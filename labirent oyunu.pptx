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Garet Bold" panose="020B0604020202020204" charset="-94"/>
      <p:regular r:id="rId9"/>
    </p:embeddedFont>
    <p:embeddedFont>
      <p:font typeface="Garet Ultra-Bold" panose="020B0604020202020204" charset="-94"/>
      <p:regular r:id="rId10"/>
    </p:embeddedFont>
    <p:embeddedFont>
      <p:font typeface="Montserrat" panose="020F0502020204030204" pitchFamily="2" charset="-94"/>
      <p:regular r:id="rId11"/>
    </p:embeddedFont>
    <p:embeddedFont>
      <p:font typeface="Montserrat Light" panose="020F0502020204030204" pitchFamily="2" charset="-9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396"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grpSp>
        <p:nvGrpSpPr>
          <p:cNvPr id="3" name="Group 3"/>
          <p:cNvGrpSpPr/>
          <p:nvPr/>
        </p:nvGrpSpPr>
        <p:grpSpPr>
          <a:xfrm>
            <a:off x="9877998" y="6739531"/>
            <a:ext cx="4174016" cy="1112300"/>
            <a:chOff x="0" y="0"/>
            <a:chExt cx="1072643" cy="285840"/>
          </a:xfrm>
        </p:grpSpPr>
        <p:sp>
          <p:nvSpPr>
            <p:cNvPr id="4" name="Freeform 4"/>
            <p:cNvSpPr/>
            <p:nvPr/>
          </p:nvSpPr>
          <p:spPr>
            <a:xfrm>
              <a:off x="0" y="0"/>
              <a:ext cx="1072643" cy="285840"/>
            </a:xfrm>
            <a:custGeom>
              <a:avLst/>
              <a:gdLst/>
              <a:ahLst/>
              <a:cxnLst/>
              <a:rect l="l" t="t" r="r" b="b"/>
              <a:pathLst>
                <a:path w="1072643" h="285840">
                  <a:moveTo>
                    <a:pt x="31531" y="0"/>
                  </a:moveTo>
                  <a:lnTo>
                    <a:pt x="1041111" y="0"/>
                  </a:lnTo>
                  <a:cubicBezTo>
                    <a:pt x="1058526" y="0"/>
                    <a:pt x="1072643" y="14117"/>
                    <a:pt x="1072643" y="31531"/>
                  </a:cubicBezTo>
                  <a:lnTo>
                    <a:pt x="1072643" y="254309"/>
                  </a:lnTo>
                  <a:cubicBezTo>
                    <a:pt x="1072643" y="271723"/>
                    <a:pt x="1058526" y="285840"/>
                    <a:pt x="1041111" y="285840"/>
                  </a:cubicBezTo>
                  <a:lnTo>
                    <a:pt x="31531" y="285840"/>
                  </a:lnTo>
                  <a:cubicBezTo>
                    <a:pt x="14117" y="285840"/>
                    <a:pt x="0" y="271723"/>
                    <a:pt x="0" y="254309"/>
                  </a:cubicBezTo>
                  <a:lnTo>
                    <a:pt x="0" y="31531"/>
                  </a:lnTo>
                  <a:cubicBezTo>
                    <a:pt x="0" y="14117"/>
                    <a:pt x="14117" y="0"/>
                    <a:pt x="31531" y="0"/>
                  </a:cubicBezTo>
                  <a:close/>
                </a:path>
              </a:pathLst>
            </a:custGeom>
            <a:solidFill>
              <a:srgbClr val="022F76">
                <a:alpha val="50980"/>
              </a:srgbClr>
            </a:solidFill>
          </p:spPr>
        </p:sp>
        <p:sp>
          <p:nvSpPr>
            <p:cNvPr id="5" name="TextBox 5"/>
            <p:cNvSpPr txBox="1"/>
            <p:nvPr/>
          </p:nvSpPr>
          <p:spPr>
            <a:xfrm>
              <a:off x="0" y="-28575"/>
              <a:ext cx="1072643" cy="314415"/>
            </a:xfrm>
            <a:prstGeom prst="rect">
              <a:avLst/>
            </a:prstGeom>
          </p:spPr>
          <p:txBody>
            <a:bodyPr lIns="50800" tIns="50800" rIns="50800" bIns="50800" rtlCol="0" anchor="ctr"/>
            <a:lstStyle/>
            <a:p>
              <a:pPr marL="0" lvl="0" indent="0" algn="ctr">
                <a:lnSpc>
                  <a:spcPts val="2377"/>
                </a:lnSpc>
              </a:pPr>
              <a:endParaRPr/>
            </a:p>
          </p:txBody>
        </p:sp>
      </p:grpSp>
      <p:sp>
        <p:nvSpPr>
          <p:cNvPr id="6" name="TextBox 6"/>
          <p:cNvSpPr txBox="1"/>
          <p:nvPr/>
        </p:nvSpPr>
        <p:spPr>
          <a:xfrm>
            <a:off x="4076683" y="2412446"/>
            <a:ext cx="8588082" cy="1517719"/>
          </a:xfrm>
          <a:prstGeom prst="rect">
            <a:avLst/>
          </a:prstGeom>
        </p:spPr>
        <p:txBody>
          <a:bodyPr lIns="0" tIns="0" rIns="0" bIns="0" rtlCol="0" anchor="t">
            <a:spAutoFit/>
          </a:bodyPr>
          <a:lstStyle/>
          <a:p>
            <a:pPr marL="0" lvl="0" indent="0" algn="l">
              <a:lnSpc>
                <a:spcPts val="12382"/>
              </a:lnSpc>
              <a:spcBef>
                <a:spcPct val="0"/>
              </a:spcBef>
            </a:pPr>
            <a:r>
              <a:rPr lang="en-US" sz="8844" b="1">
                <a:solidFill>
                  <a:srgbClr val="FFFFFF"/>
                </a:solidFill>
                <a:latin typeface="Garet Bold"/>
                <a:ea typeface="Garet Bold"/>
                <a:cs typeface="Garet Bold"/>
                <a:sym typeface="Garet Bold"/>
              </a:rPr>
              <a:t>Oyun Kodlama</a:t>
            </a:r>
          </a:p>
        </p:txBody>
      </p:sp>
      <p:sp>
        <p:nvSpPr>
          <p:cNvPr id="7" name="TextBox 7"/>
          <p:cNvSpPr txBox="1"/>
          <p:nvPr/>
        </p:nvSpPr>
        <p:spPr>
          <a:xfrm>
            <a:off x="4091479" y="5251406"/>
            <a:ext cx="12062921" cy="1339894"/>
          </a:xfrm>
          <a:prstGeom prst="rect">
            <a:avLst/>
          </a:prstGeom>
        </p:spPr>
        <p:txBody>
          <a:bodyPr lIns="0" tIns="0" rIns="0" bIns="0" rtlCol="0" anchor="t">
            <a:spAutoFit/>
          </a:bodyPr>
          <a:lstStyle/>
          <a:p>
            <a:pPr marL="0" lvl="0" indent="0" algn="l">
              <a:lnSpc>
                <a:spcPts val="10922"/>
              </a:lnSpc>
              <a:spcBef>
                <a:spcPct val="0"/>
              </a:spcBef>
            </a:pPr>
            <a:r>
              <a:rPr lang="en-US" sz="7801" b="1">
                <a:solidFill>
                  <a:srgbClr val="FFFFFF"/>
                </a:solidFill>
                <a:latin typeface="Garet Bold"/>
                <a:ea typeface="Garet Bold"/>
                <a:cs typeface="Garet Bold"/>
                <a:sym typeface="Garet Bold"/>
              </a:rPr>
              <a:t>Projesi</a:t>
            </a:r>
          </a:p>
        </p:txBody>
      </p:sp>
      <p:sp>
        <p:nvSpPr>
          <p:cNvPr id="8" name="TextBox 8"/>
          <p:cNvSpPr txBox="1"/>
          <p:nvPr/>
        </p:nvSpPr>
        <p:spPr>
          <a:xfrm>
            <a:off x="10543672" y="7017046"/>
            <a:ext cx="2842668" cy="314981"/>
          </a:xfrm>
          <a:prstGeom prst="rect">
            <a:avLst/>
          </a:prstGeom>
        </p:spPr>
        <p:txBody>
          <a:bodyPr lIns="0" tIns="0" rIns="0" bIns="0" rtlCol="0" anchor="t">
            <a:spAutoFit/>
          </a:bodyPr>
          <a:lstStyle/>
          <a:p>
            <a:pPr marL="0" lvl="0" indent="0" algn="r">
              <a:lnSpc>
                <a:spcPts val="2588"/>
              </a:lnSpc>
              <a:spcBef>
                <a:spcPct val="0"/>
              </a:spcBef>
            </a:pPr>
            <a:r>
              <a:rPr lang="en-US" sz="1849" spc="310">
                <a:solidFill>
                  <a:srgbClr val="FFFFFF"/>
                </a:solidFill>
                <a:latin typeface="Montserrat"/>
                <a:ea typeface="Montserrat"/>
                <a:cs typeface="Montserrat"/>
                <a:sym typeface="Montserrat"/>
              </a:rPr>
              <a:t>DERS SUNUMU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sp>
        <p:nvSpPr>
          <p:cNvPr id="3" name="TextBox 3"/>
          <p:cNvSpPr txBox="1"/>
          <p:nvPr/>
        </p:nvSpPr>
        <p:spPr>
          <a:xfrm>
            <a:off x="1450095" y="3238805"/>
            <a:ext cx="8903106" cy="846192"/>
          </a:xfrm>
          <a:prstGeom prst="rect">
            <a:avLst/>
          </a:prstGeom>
        </p:spPr>
        <p:txBody>
          <a:bodyPr lIns="0" tIns="0" rIns="0" bIns="0" rtlCol="0" anchor="t">
            <a:spAutoFit/>
          </a:bodyPr>
          <a:lstStyle/>
          <a:p>
            <a:pPr marL="0" lvl="0" indent="0" algn="l">
              <a:lnSpc>
                <a:spcPts val="6702"/>
              </a:lnSpc>
            </a:pPr>
            <a:r>
              <a:rPr lang="en-US" sz="5387" b="1">
                <a:solidFill>
                  <a:srgbClr val="FFFFFF"/>
                </a:solidFill>
                <a:latin typeface="Garet Bold"/>
                <a:ea typeface="Garet Bold"/>
                <a:cs typeface="Garet Bold"/>
                <a:sym typeface="Garet Bold"/>
              </a:rPr>
              <a:t>Proje Tanımı</a:t>
            </a:r>
          </a:p>
        </p:txBody>
      </p:sp>
      <p:grpSp>
        <p:nvGrpSpPr>
          <p:cNvPr id="4" name="Group 4"/>
          <p:cNvGrpSpPr/>
          <p:nvPr/>
        </p:nvGrpSpPr>
        <p:grpSpPr>
          <a:xfrm>
            <a:off x="1450095" y="4655760"/>
            <a:ext cx="14436227" cy="3084869"/>
            <a:chOff x="0" y="0"/>
            <a:chExt cx="3709836" cy="792753"/>
          </a:xfrm>
        </p:grpSpPr>
        <p:sp>
          <p:nvSpPr>
            <p:cNvPr id="5" name="Freeform 5"/>
            <p:cNvSpPr/>
            <p:nvPr/>
          </p:nvSpPr>
          <p:spPr>
            <a:xfrm>
              <a:off x="0" y="0"/>
              <a:ext cx="3709836" cy="792753"/>
            </a:xfrm>
            <a:custGeom>
              <a:avLst/>
              <a:gdLst/>
              <a:ahLst/>
              <a:cxnLst/>
              <a:rect l="l" t="t" r="r" b="b"/>
              <a:pathLst>
                <a:path w="3709836" h="792753">
                  <a:moveTo>
                    <a:pt x="9117" y="0"/>
                  </a:moveTo>
                  <a:lnTo>
                    <a:pt x="3700719" y="0"/>
                  </a:lnTo>
                  <a:cubicBezTo>
                    <a:pt x="3705754" y="0"/>
                    <a:pt x="3709836" y="4082"/>
                    <a:pt x="3709836" y="9117"/>
                  </a:cubicBezTo>
                  <a:lnTo>
                    <a:pt x="3709836" y="783636"/>
                  </a:lnTo>
                  <a:cubicBezTo>
                    <a:pt x="3709836" y="788671"/>
                    <a:pt x="3705754" y="792753"/>
                    <a:pt x="3700719" y="792753"/>
                  </a:cubicBezTo>
                  <a:lnTo>
                    <a:pt x="9117" y="792753"/>
                  </a:lnTo>
                  <a:cubicBezTo>
                    <a:pt x="4082" y="792753"/>
                    <a:pt x="0" y="788671"/>
                    <a:pt x="0" y="783636"/>
                  </a:cubicBezTo>
                  <a:lnTo>
                    <a:pt x="0" y="9117"/>
                  </a:lnTo>
                  <a:cubicBezTo>
                    <a:pt x="0" y="4082"/>
                    <a:pt x="4082" y="0"/>
                    <a:pt x="9117" y="0"/>
                  </a:cubicBezTo>
                  <a:close/>
                </a:path>
              </a:pathLst>
            </a:custGeom>
            <a:solidFill>
              <a:srgbClr val="022F76">
                <a:alpha val="50980"/>
              </a:srgbClr>
            </a:solidFill>
          </p:spPr>
        </p:sp>
        <p:sp>
          <p:nvSpPr>
            <p:cNvPr id="6" name="TextBox 6"/>
            <p:cNvSpPr txBox="1"/>
            <p:nvPr/>
          </p:nvSpPr>
          <p:spPr>
            <a:xfrm>
              <a:off x="0" y="-28575"/>
              <a:ext cx="3709836" cy="821328"/>
            </a:xfrm>
            <a:prstGeom prst="rect">
              <a:avLst/>
            </a:prstGeom>
          </p:spPr>
          <p:txBody>
            <a:bodyPr lIns="50800" tIns="50800" rIns="50800" bIns="50800" rtlCol="0" anchor="ctr"/>
            <a:lstStyle/>
            <a:p>
              <a:pPr marL="0" lvl="0" indent="0" algn="ctr">
                <a:lnSpc>
                  <a:spcPts val="2377"/>
                </a:lnSpc>
              </a:pPr>
              <a:endParaRPr/>
            </a:p>
          </p:txBody>
        </p:sp>
      </p:grpSp>
      <p:sp>
        <p:nvSpPr>
          <p:cNvPr id="7" name="TextBox 7"/>
          <p:cNvSpPr txBox="1"/>
          <p:nvPr/>
        </p:nvSpPr>
        <p:spPr>
          <a:xfrm>
            <a:off x="2953372" y="5489542"/>
            <a:ext cx="11429673" cy="1369680"/>
          </a:xfrm>
          <a:prstGeom prst="rect">
            <a:avLst/>
          </a:prstGeom>
        </p:spPr>
        <p:txBody>
          <a:bodyPr lIns="0" tIns="0" rIns="0" bIns="0" rtlCol="0" anchor="t">
            <a:spAutoFit/>
          </a:bodyPr>
          <a:lstStyle/>
          <a:p>
            <a:pPr marL="0" lvl="0" indent="0" algn="l">
              <a:lnSpc>
                <a:spcPts val="2730"/>
              </a:lnSpc>
            </a:pPr>
            <a:r>
              <a:rPr lang="en-US" sz="1950">
                <a:solidFill>
                  <a:srgbClr val="FFFFFF"/>
                </a:solidFill>
                <a:latin typeface="Montserrat"/>
                <a:ea typeface="Montserrat"/>
                <a:cs typeface="Montserrat"/>
                <a:sym typeface="Montserrat"/>
              </a:rPr>
              <a:t>Bu proje, klasik labirent oyununu matematik soruları ile birleştirerek oyuncunun uzamsal düşünme, zaman yönetimi ve problem çözme yetilerini aynı anda geliştirmeyi amaçlayan bir eğitim oyunudur.</a:t>
            </a:r>
          </a:p>
          <a:p>
            <a:pPr marL="0" lvl="0" indent="0" algn="l">
              <a:lnSpc>
                <a:spcPts val="2730"/>
              </a:lnSpc>
            </a:pPr>
            <a:endParaRPr lang="en-US" sz="1950">
              <a:solidFill>
                <a:srgbClr val="FFFFFF"/>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grpSp>
        <p:nvGrpSpPr>
          <p:cNvPr id="3" name="Group 3"/>
          <p:cNvGrpSpPr/>
          <p:nvPr/>
        </p:nvGrpSpPr>
        <p:grpSpPr>
          <a:xfrm>
            <a:off x="7968497" y="1774025"/>
            <a:ext cx="8943455" cy="2087030"/>
            <a:chOff x="0" y="0"/>
            <a:chExt cx="2249203" cy="524870"/>
          </a:xfrm>
        </p:grpSpPr>
        <p:sp>
          <p:nvSpPr>
            <p:cNvPr id="4" name="Freeform 4"/>
            <p:cNvSpPr/>
            <p:nvPr/>
          </p:nvSpPr>
          <p:spPr>
            <a:xfrm>
              <a:off x="0" y="0"/>
              <a:ext cx="2249203" cy="524870"/>
            </a:xfrm>
            <a:custGeom>
              <a:avLst/>
              <a:gdLst/>
              <a:ahLst/>
              <a:cxnLst/>
              <a:rect l="l" t="t" r="r" b="b"/>
              <a:pathLst>
                <a:path w="2249203" h="524870">
                  <a:moveTo>
                    <a:pt x="14716" y="0"/>
                  </a:moveTo>
                  <a:lnTo>
                    <a:pt x="2234487" y="0"/>
                  </a:lnTo>
                  <a:cubicBezTo>
                    <a:pt x="2238390" y="0"/>
                    <a:pt x="2242133" y="1550"/>
                    <a:pt x="2244893" y="4310"/>
                  </a:cubicBezTo>
                  <a:cubicBezTo>
                    <a:pt x="2247653" y="7070"/>
                    <a:pt x="2249203" y="10813"/>
                    <a:pt x="2249203" y="14716"/>
                  </a:cubicBezTo>
                  <a:lnTo>
                    <a:pt x="2249203" y="510154"/>
                  </a:lnTo>
                  <a:cubicBezTo>
                    <a:pt x="2249203" y="514057"/>
                    <a:pt x="2247653" y="517800"/>
                    <a:pt x="2244893" y="520560"/>
                  </a:cubicBezTo>
                  <a:cubicBezTo>
                    <a:pt x="2242133" y="523320"/>
                    <a:pt x="2238390" y="524870"/>
                    <a:pt x="2234487" y="524870"/>
                  </a:cubicBezTo>
                  <a:lnTo>
                    <a:pt x="14716" y="524870"/>
                  </a:lnTo>
                  <a:cubicBezTo>
                    <a:pt x="10813" y="524870"/>
                    <a:pt x="7070" y="523320"/>
                    <a:pt x="4310" y="520560"/>
                  </a:cubicBezTo>
                  <a:cubicBezTo>
                    <a:pt x="1550" y="517800"/>
                    <a:pt x="0" y="514057"/>
                    <a:pt x="0" y="510154"/>
                  </a:cubicBezTo>
                  <a:lnTo>
                    <a:pt x="0" y="14716"/>
                  </a:lnTo>
                  <a:cubicBezTo>
                    <a:pt x="0" y="10813"/>
                    <a:pt x="1550" y="7070"/>
                    <a:pt x="4310" y="4310"/>
                  </a:cubicBezTo>
                  <a:cubicBezTo>
                    <a:pt x="7070" y="1550"/>
                    <a:pt x="10813" y="0"/>
                    <a:pt x="14716" y="0"/>
                  </a:cubicBezTo>
                  <a:close/>
                </a:path>
              </a:pathLst>
            </a:custGeom>
            <a:solidFill>
              <a:srgbClr val="022F76">
                <a:alpha val="50980"/>
              </a:srgbClr>
            </a:solidFill>
          </p:spPr>
        </p:sp>
        <p:sp>
          <p:nvSpPr>
            <p:cNvPr id="5" name="TextBox 5"/>
            <p:cNvSpPr txBox="1"/>
            <p:nvPr/>
          </p:nvSpPr>
          <p:spPr>
            <a:xfrm>
              <a:off x="0" y="-28575"/>
              <a:ext cx="2249203" cy="553445"/>
            </a:xfrm>
            <a:prstGeom prst="rect">
              <a:avLst/>
            </a:prstGeom>
          </p:spPr>
          <p:txBody>
            <a:bodyPr lIns="50800" tIns="50800" rIns="50800" bIns="50800" rtlCol="0" anchor="ctr"/>
            <a:lstStyle/>
            <a:p>
              <a:pPr marL="0" lvl="0" indent="0" algn="ctr">
                <a:lnSpc>
                  <a:spcPts val="2377"/>
                </a:lnSpc>
              </a:pPr>
              <a:endParaRPr/>
            </a:p>
          </p:txBody>
        </p:sp>
      </p:grpSp>
      <p:grpSp>
        <p:nvGrpSpPr>
          <p:cNvPr id="6" name="Group 6"/>
          <p:cNvGrpSpPr/>
          <p:nvPr/>
        </p:nvGrpSpPr>
        <p:grpSpPr>
          <a:xfrm>
            <a:off x="7968497" y="4100791"/>
            <a:ext cx="8943455" cy="2087030"/>
            <a:chOff x="0" y="0"/>
            <a:chExt cx="2249203" cy="524870"/>
          </a:xfrm>
        </p:grpSpPr>
        <p:sp>
          <p:nvSpPr>
            <p:cNvPr id="7" name="Freeform 7"/>
            <p:cNvSpPr/>
            <p:nvPr/>
          </p:nvSpPr>
          <p:spPr>
            <a:xfrm>
              <a:off x="0" y="0"/>
              <a:ext cx="2249203" cy="524870"/>
            </a:xfrm>
            <a:custGeom>
              <a:avLst/>
              <a:gdLst/>
              <a:ahLst/>
              <a:cxnLst/>
              <a:rect l="l" t="t" r="r" b="b"/>
              <a:pathLst>
                <a:path w="2249203" h="524870">
                  <a:moveTo>
                    <a:pt x="14716" y="0"/>
                  </a:moveTo>
                  <a:lnTo>
                    <a:pt x="2234487" y="0"/>
                  </a:lnTo>
                  <a:cubicBezTo>
                    <a:pt x="2238390" y="0"/>
                    <a:pt x="2242133" y="1550"/>
                    <a:pt x="2244893" y="4310"/>
                  </a:cubicBezTo>
                  <a:cubicBezTo>
                    <a:pt x="2247653" y="7070"/>
                    <a:pt x="2249203" y="10813"/>
                    <a:pt x="2249203" y="14716"/>
                  </a:cubicBezTo>
                  <a:lnTo>
                    <a:pt x="2249203" y="510154"/>
                  </a:lnTo>
                  <a:cubicBezTo>
                    <a:pt x="2249203" y="514057"/>
                    <a:pt x="2247653" y="517800"/>
                    <a:pt x="2244893" y="520560"/>
                  </a:cubicBezTo>
                  <a:cubicBezTo>
                    <a:pt x="2242133" y="523320"/>
                    <a:pt x="2238390" y="524870"/>
                    <a:pt x="2234487" y="524870"/>
                  </a:cubicBezTo>
                  <a:lnTo>
                    <a:pt x="14716" y="524870"/>
                  </a:lnTo>
                  <a:cubicBezTo>
                    <a:pt x="10813" y="524870"/>
                    <a:pt x="7070" y="523320"/>
                    <a:pt x="4310" y="520560"/>
                  </a:cubicBezTo>
                  <a:cubicBezTo>
                    <a:pt x="1550" y="517800"/>
                    <a:pt x="0" y="514057"/>
                    <a:pt x="0" y="510154"/>
                  </a:cubicBezTo>
                  <a:lnTo>
                    <a:pt x="0" y="14716"/>
                  </a:lnTo>
                  <a:cubicBezTo>
                    <a:pt x="0" y="10813"/>
                    <a:pt x="1550" y="7070"/>
                    <a:pt x="4310" y="4310"/>
                  </a:cubicBezTo>
                  <a:cubicBezTo>
                    <a:pt x="7070" y="1550"/>
                    <a:pt x="10813" y="0"/>
                    <a:pt x="14716" y="0"/>
                  </a:cubicBezTo>
                  <a:close/>
                </a:path>
              </a:pathLst>
            </a:custGeom>
            <a:solidFill>
              <a:srgbClr val="022F76">
                <a:alpha val="50980"/>
              </a:srgbClr>
            </a:solidFill>
          </p:spPr>
        </p:sp>
        <p:sp>
          <p:nvSpPr>
            <p:cNvPr id="8" name="TextBox 8"/>
            <p:cNvSpPr txBox="1"/>
            <p:nvPr/>
          </p:nvSpPr>
          <p:spPr>
            <a:xfrm>
              <a:off x="0" y="-28575"/>
              <a:ext cx="2249203" cy="553445"/>
            </a:xfrm>
            <a:prstGeom prst="rect">
              <a:avLst/>
            </a:prstGeom>
          </p:spPr>
          <p:txBody>
            <a:bodyPr lIns="50800" tIns="50800" rIns="50800" bIns="50800" rtlCol="0" anchor="ctr"/>
            <a:lstStyle/>
            <a:p>
              <a:pPr marL="0" lvl="0" indent="0" algn="ctr">
                <a:lnSpc>
                  <a:spcPts val="2377"/>
                </a:lnSpc>
              </a:pPr>
              <a:endParaRPr/>
            </a:p>
          </p:txBody>
        </p:sp>
      </p:grpSp>
      <p:grpSp>
        <p:nvGrpSpPr>
          <p:cNvPr id="9" name="Group 9"/>
          <p:cNvGrpSpPr/>
          <p:nvPr/>
        </p:nvGrpSpPr>
        <p:grpSpPr>
          <a:xfrm>
            <a:off x="7968497" y="6425946"/>
            <a:ext cx="8943455" cy="2087030"/>
            <a:chOff x="0" y="0"/>
            <a:chExt cx="2249203" cy="524870"/>
          </a:xfrm>
        </p:grpSpPr>
        <p:sp>
          <p:nvSpPr>
            <p:cNvPr id="10" name="Freeform 10"/>
            <p:cNvSpPr/>
            <p:nvPr/>
          </p:nvSpPr>
          <p:spPr>
            <a:xfrm>
              <a:off x="0" y="0"/>
              <a:ext cx="2249203" cy="524870"/>
            </a:xfrm>
            <a:custGeom>
              <a:avLst/>
              <a:gdLst/>
              <a:ahLst/>
              <a:cxnLst/>
              <a:rect l="l" t="t" r="r" b="b"/>
              <a:pathLst>
                <a:path w="2249203" h="524870">
                  <a:moveTo>
                    <a:pt x="14716" y="0"/>
                  </a:moveTo>
                  <a:lnTo>
                    <a:pt x="2234487" y="0"/>
                  </a:lnTo>
                  <a:cubicBezTo>
                    <a:pt x="2238390" y="0"/>
                    <a:pt x="2242133" y="1550"/>
                    <a:pt x="2244893" y="4310"/>
                  </a:cubicBezTo>
                  <a:cubicBezTo>
                    <a:pt x="2247653" y="7070"/>
                    <a:pt x="2249203" y="10813"/>
                    <a:pt x="2249203" y="14716"/>
                  </a:cubicBezTo>
                  <a:lnTo>
                    <a:pt x="2249203" y="510154"/>
                  </a:lnTo>
                  <a:cubicBezTo>
                    <a:pt x="2249203" y="514057"/>
                    <a:pt x="2247653" y="517800"/>
                    <a:pt x="2244893" y="520560"/>
                  </a:cubicBezTo>
                  <a:cubicBezTo>
                    <a:pt x="2242133" y="523320"/>
                    <a:pt x="2238390" y="524870"/>
                    <a:pt x="2234487" y="524870"/>
                  </a:cubicBezTo>
                  <a:lnTo>
                    <a:pt x="14716" y="524870"/>
                  </a:lnTo>
                  <a:cubicBezTo>
                    <a:pt x="10813" y="524870"/>
                    <a:pt x="7070" y="523320"/>
                    <a:pt x="4310" y="520560"/>
                  </a:cubicBezTo>
                  <a:cubicBezTo>
                    <a:pt x="1550" y="517800"/>
                    <a:pt x="0" y="514057"/>
                    <a:pt x="0" y="510154"/>
                  </a:cubicBezTo>
                  <a:lnTo>
                    <a:pt x="0" y="14716"/>
                  </a:lnTo>
                  <a:cubicBezTo>
                    <a:pt x="0" y="10813"/>
                    <a:pt x="1550" y="7070"/>
                    <a:pt x="4310" y="4310"/>
                  </a:cubicBezTo>
                  <a:cubicBezTo>
                    <a:pt x="7070" y="1550"/>
                    <a:pt x="10813" y="0"/>
                    <a:pt x="14716" y="0"/>
                  </a:cubicBezTo>
                  <a:close/>
                </a:path>
              </a:pathLst>
            </a:custGeom>
            <a:solidFill>
              <a:srgbClr val="022F76">
                <a:alpha val="50980"/>
              </a:srgbClr>
            </a:solidFill>
          </p:spPr>
        </p:sp>
        <p:sp>
          <p:nvSpPr>
            <p:cNvPr id="11" name="TextBox 11"/>
            <p:cNvSpPr txBox="1"/>
            <p:nvPr/>
          </p:nvSpPr>
          <p:spPr>
            <a:xfrm>
              <a:off x="0" y="-28575"/>
              <a:ext cx="2249203" cy="553445"/>
            </a:xfrm>
            <a:prstGeom prst="rect">
              <a:avLst/>
            </a:prstGeom>
          </p:spPr>
          <p:txBody>
            <a:bodyPr lIns="50800" tIns="50800" rIns="50800" bIns="50800" rtlCol="0" anchor="ctr"/>
            <a:lstStyle/>
            <a:p>
              <a:pPr marL="0" lvl="0" indent="0" algn="ctr">
                <a:lnSpc>
                  <a:spcPts val="2377"/>
                </a:lnSpc>
              </a:pPr>
              <a:endParaRPr/>
            </a:p>
          </p:txBody>
        </p:sp>
      </p:grpSp>
      <p:sp>
        <p:nvSpPr>
          <p:cNvPr id="12" name="TextBox 12"/>
          <p:cNvSpPr txBox="1"/>
          <p:nvPr/>
        </p:nvSpPr>
        <p:spPr>
          <a:xfrm>
            <a:off x="1457550" y="5309231"/>
            <a:ext cx="5473770" cy="1269035"/>
          </a:xfrm>
          <a:prstGeom prst="rect">
            <a:avLst/>
          </a:prstGeom>
        </p:spPr>
        <p:txBody>
          <a:bodyPr lIns="0" tIns="0" rIns="0" bIns="0" rtlCol="0" anchor="t">
            <a:spAutoFit/>
          </a:bodyPr>
          <a:lstStyle/>
          <a:p>
            <a:pPr marL="0" lvl="0" indent="0" algn="l">
              <a:lnSpc>
                <a:spcPts val="2577"/>
              </a:lnSpc>
            </a:pPr>
            <a:r>
              <a:rPr lang="en-US" sz="1599">
                <a:solidFill>
                  <a:srgbClr val="FFFFFF"/>
                </a:solidFill>
                <a:latin typeface="Montserrat"/>
                <a:ea typeface="Montserrat"/>
                <a:cs typeface="Montserrat"/>
                <a:sym typeface="Montserrat"/>
              </a:rPr>
              <a:t>Oyun kodlama projesi üç temel aşamadan oluşur. Her aşama, başarılı bir oyun geliştirme için kritik öneme sahiptir ve birbirini takip eden sistematik bir süreç izler.</a:t>
            </a:r>
          </a:p>
        </p:txBody>
      </p:sp>
      <p:sp>
        <p:nvSpPr>
          <p:cNvPr id="13" name="TextBox 13"/>
          <p:cNvSpPr txBox="1"/>
          <p:nvPr/>
        </p:nvSpPr>
        <p:spPr>
          <a:xfrm>
            <a:off x="10232721" y="2617451"/>
            <a:ext cx="4415007" cy="988040"/>
          </a:xfrm>
          <a:prstGeom prst="rect">
            <a:avLst/>
          </a:prstGeom>
        </p:spPr>
        <p:txBody>
          <a:bodyPr lIns="0" tIns="0" rIns="0" bIns="0" rtlCol="0" anchor="t">
            <a:spAutoFit/>
          </a:bodyPr>
          <a:lstStyle/>
          <a:p>
            <a:pPr marL="0" lvl="0" indent="0" algn="l">
              <a:lnSpc>
                <a:spcPts val="2690"/>
              </a:lnSpc>
            </a:pPr>
            <a:r>
              <a:rPr lang="en-US" sz="2162" b="1" spc="23">
                <a:solidFill>
                  <a:srgbClr val="FFFFFF"/>
                </a:solidFill>
                <a:latin typeface="Garet Bold"/>
                <a:ea typeface="Garet Bold"/>
                <a:cs typeface="Garet Bold"/>
                <a:sym typeface="Garet Bold"/>
              </a:rPr>
              <a:t>-Fikir ve temel hareket sistemi </a:t>
            </a:r>
          </a:p>
          <a:p>
            <a:pPr marL="0" lvl="0" indent="0" algn="l">
              <a:lnSpc>
                <a:spcPts val="2690"/>
              </a:lnSpc>
            </a:pPr>
            <a:r>
              <a:rPr lang="en-US" sz="2162" b="1" spc="23">
                <a:solidFill>
                  <a:srgbClr val="FFFFFF"/>
                </a:solidFill>
                <a:latin typeface="Garet Bold"/>
                <a:ea typeface="Garet Bold"/>
                <a:cs typeface="Garet Bold"/>
                <a:sym typeface="Garet Bold"/>
              </a:rPr>
              <a:t>-Labirent algoritması.</a:t>
            </a:r>
          </a:p>
          <a:p>
            <a:pPr marL="0" lvl="0" indent="0" algn="l">
              <a:lnSpc>
                <a:spcPts val="2690"/>
              </a:lnSpc>
            </a:pPr>
            <a:endParaRPr lang="en-US" sz="2162" b="1" spc="23">
              <a:solidFill>
                <a:srgbClr val="FFFFFF"/>
              </a:solidFill>
              <a:latin typeface="Garet Bold"/>
              <a:ea typeface="Garet Bold"/>
              <a:cs typeface="Garet Bold"/>
              <a:sym typeface="Garet Bold"/>
            </a:endParaRPr>
          </a:p>
        </p:txBody>
      </p:sp>
      <p:sp>
        <p:nvSpPr>
          <p:cNvPr id="14" name="TextBox 14"/>
          <p:cNvSpPr txBox="1"/>
          <p:nvPr/>
        </p:nvSpPr>
        <p:spPr>
          <a:xfrm>
            <a:off x="10811936" y="2025320"/>
            <a:ext cx="3026056" cy="554094"/>
          </a:xfrm>
          <a:prstGeom prst="rect">
            <a:avLst/>
          </a:prstGeom>
        </p:spPr>
        <p:txBody>
          <a:bodyPr lIns="0" tIns="0" rIns="0" bIns="0" rtlCol="0" anchor="t">
            <a:spAutoFit/>
          </a:bodyPr>
          <a:lstStyle/>
          <a:p>
            <a:pPr marL="0" lvl="0" indent="0" algn="ctr">
              <a:lnSpc>
                <a:spcPts val="4447"/>
              </a:lnSpc>
            </a:pPr>
            <a:r>
              <a:rPr lang="en-US" sz="3574" b="1" spc="39">
                <a:solidFill>
                  <a:srgbClr val="FFFFFF"/>
                </a:solidFill>
                <a:latin typeface="Garet Bold"/>
                <a:ea typeface="Garet Bold"/>
                <a:cs typeface="Garet Bold"/>
                <a:sym typeface="Garet Bold"/>
              </a:rPr>
              <a:t>1 ve 2.Hafta</a:t>
            </a:r>
          </a:p>
        </p:txBody>
      </p:sp>
      <p:sp>
        <p:nvSpPr>
          <p:cNvPr id="15" name="TextBox 15"/>
          <p:cNvSpPr txBox="1"/>
          <p:nvPr/>
        </p:nvSpPr>
        <p:spPr>
          <a:xfrm>
            <a:off x="1457550" y="3038831"/>
            <a:ext cx="6510947" cy="2034857"/>
          </a:xfrm>
          <a:prstGeom prst="rect">
            <a:avLst/>
          </a:prstGeom>
        </p:spPr>
        <p:txBody>
          <a:bodyPr lIns="0" tIns="0" rIns="0" bIns="0" rtlCol="0" anchor="t">
            <a:spAutoFit/>
          </a:bodyPr>
          <a:lstStyle/>
          <a:p>
            <a:pPr marL="0" lvl="0" indent="0" algn="l">
              <a:lnSpc>
                <a:spcPts val="8033"/>
              </a:lnSpc>
            </a:pPr>
            <a:r>
              <a:rPr lang="en-US" sz="6421" b="1" spc="70">
                <a:solidFill>
                  <a:srgbClr val="FFFFFF"/>
                </a:solidFill>
                <a:latin typeface="Garet Bold"/>
                <a:ea typeface="Garet Bold"/>
                <a:cs typeface="Garet Bold"/>
                <a:sym typeface="Garet Bold"/>
              </a:rPr>
              <a:t>Kodlama Süreci</a:t>
            </a:r>
          </a:p>
        </p:txBody>
      </p:sp>
      <p:sp>
        <p:nvSpPr>
          <p:cNvPr id="16" name="TextBox 16"/>
          <p:cNvSpPr txBox="1"/>
          <p:nvPr/>
        </p:nvSpPr>
        <p:spPr>
          <a:xfrm>
            <a:off x="10811936" y="6568741"/>
            <a:ext cx="3026056" cy="554094"/>
          </a:xfrm>
          <a:prstGeom prst="rect">
            <a:avLst/>
          </a:prstGeom>
        </p:spPr>
        <p:txBody>
          <a:bodyPr lIns="0" tIns="0" rIns="0" bIns="0" rtlCol="0" anchor="t">
            <a:spAutoFit/>
          </a:bodyPr>
          <a:lstStyle/>
          <a:p>
            <a:pPr marL="0" lvl="0" indent="0" algn="ctr">
              <a:lnSpc>
                <a:spcPts val="4447"/>
              </a:lnSpc>
            </a:pPr>
            <a:r>
              <a:rPr lang="en-US" sz="3574" b="1" spc="39">
                <a:solidFill>
                  <a:srgbClr val="FFFFFF"/>
                </a:solidFill>
                <a:latin typeface="Garet Bold"/>
                <a:ea typeface="Garet Bold"/>
                <a:cs typeface="Garet Bold"/>
                <a:sym typeface="Garet Bold"/>
              </a:rPr>
              <a:t>5 ve 6.Hafta</a:t>
            </a:r>
          </a:p>
        </p:txBody>
      </p:sp>
      <p:sp>
        <p:nvSpPr>
          <p:cNvPr id="17" name="TextBox 17"/>
          <p:cNvSpPr txBox="1"/>
          <p:nvPr/>
        </p:nvSpPr>
        <p:spPr>
          <a:xfrm>
            <a:off x="10811936" y="4297071"/>
            <a:ext cx="3026056" cy="554094"/>
          </a:xfrm>
          <a:prstGeom prst="rect">
            <a:avLst/>
          </a:prstGeom>
        </p:spPr>
        <p:txBody>
          <a:bodyPr lIns="0" tIns="0" rIns="0" bIns="0" rtlCol="0" anchor="t">
            <a:spAutoFit/>
          </a:bodyPr>
          <a:lstStyle/>
          <a:p>
            <a:pPr marL="0" lvl="0" indent="0" algn="ctr">
              <a:lnSpc>
                <a:spcPts val="4447"/>
              </a:lnSpc>
            </a:pPr>
            <a:r>
              <a:rPr lang="en-US" sz="3574" b="1" spc="39">
                <a:solidFill>
                  <a:srgbClr val="FFFFFF"/>
                </a:solidFill>
                <a:latin typeface="Garet Bold"/>
                <a:ea typeface="Garet Bold"/>
                <a:cs typeface="Garet Bold"/>
                <a:sym typeface="Garet Bold"/>
              </a:rPr>
              <a:t>3 ve 4.Hafta</a:t>
            </a:r>
          </a:p>
        </p:txBody>
      </p:sp>
      <p:sp>
        <p:nvSpPr>
          <p:cNvPr id="18" name="TextBox 18"/>
          <p:cNvSpPr txBox="1"/>
          <p:nvPr/>
        </p:nvSpPr>
        <p:spPr>
          <a:xfrm>
            <a:off x="10232721" y="7141885"/>
            <a:ext cx="5547706" cy="1321415"/>
          </a:xfrm>
          <a:prstGeom prst="rect">
            <a:avLst/>
          </a:prstGeom>
        </p:spPr>
        <p:txBody>
          <a:bodyPr lIns="0" tIns="0" rIns="0" bIns="0" rtlCol="0" anchor="t">
            <a:spAutoFit/>
          </a:bodyPr>
          <a:lstStyle/>
          <a:p>
            <a:pPr marL="0" lvl="0" indent="0" algn="l">
              <a:lnSpc>
                <a:spcPts val="2690"/>
              </a:lnSpc>
            </a:pPr>
            <a:r>
              <a:rPr lang="en-US" sz="2162" b="1" spc="23">
                <a:solidFill>
                  <a:srgbClr val="FFFFFF"/>
                </a:solidFill>
                <a:latin typeface="Garet Bold"/>
                <a:ea typeface="Garet Bold"/>
                <a:cs typeface="Garet Bold"/>
                <a:sym typeface="Garet Bold"/>
              </a:rPr>
              <a:t>-UI/UX geliştirme.</a:t>
            </a:r>
          </a:p>
          <a:p>
            <a:pPr marL="0" lvl="0" indent="0" algn="l">
              <a:lnSpc>
                <a:spcPts val="2690"/>
              </a:lnSpc>
            </a:pPr>
            <a:r>
              <a:rPr lang="en-US" sz="2162" b="1" spc="23">
                <a:solidFill>
                  <a:srgbClr val="FFFFFF"/>
                </a:solidFill>
                <a:latin typeface="Garet Bold"/>
                <a:ea typeface="Garet Bold"/>
                <a:cs typeface="Garet Bold"/>
                <a:sym typeface="Garet Bold"/>
              </a:rPr>
              <a:t>-Optimizasyon ve son dokunuşlar.</a:t>
            </a:r>
          </a:p>
          <a:p>
            <a:pPr marL="0" lvl="0" indent="0" algn="l">
              <a:lnSpc>
                <a:spcPts val="2690"/>
              </a:lnSpc>
            </a:pPr>
            <a:endParaRPr lang="en-US" sz="2162" b="1" spc="23">
              <a:solidFill>
                <a:srgbClr val="FFFFFF"/>
              </a:solidFill>
              <a:latin typeface="Garet Bold"/>
              <a:ea typeface="Garet Bold"/>
              <a:cs typeface="Garet Bold"/>
              <a:sym typeface="Garet Bold"/>
            </a:endParaRPr>
          </a:p>
          <a:p>
            <a:pPr marL="0" lvl="0" indent="0" algn="l">
              <a:lnSpc>
                <a:spcPts val="2690"/>
              </a:lnSpc>
            </a:pPr>
            <a:endParaRPr lang="en-US" sz="2162" b="1" spc="23">
              <a:solidFill>
                <a:srgbClr val="FFFFFF"/>
              </a:solidFill>
              <a:latin typeface="Garet Bold"/>
              <a:ea typeface="Garet Bold"/>
              <a:cs typeface="Garet Bold"/>
              <a:sym typeface="Garet Bold"/>
            </a:endParaRPr>
          </a:p>
        </p:txBody>
      </p:sp>
      <p:sp>
        <p:nvSpPr>
          <p:cNvPr id="19" name="TextBox 19"/>
          <p:cNvSpPr txBox="1"/>
          <p:nvPr/>
        </p:nvSpPr>
        <p:spPr>
          <a:xfrm>
            <a:off x="10232721" y="4872361"/>
            <a:ext cx="4698181" cy="988040"/>
          </a:xfrm>
          <a:prstGeom prst="rect">
            <a:avLst/>
          </a:prstGeom>
        </p:spPr>
        <p:txBody>
          <a:bodyPr lIns="0" tIns="0" rIns="0" bIns="0" rtlCol="0" anchor="t">
            <a:spAutoFit/>
          </a:bodyPr>
          <a:lstStyle/>
          <a:p>
            <a:pPr marL="0" lvl="0" indent="0" algn="l">
              <a:lnSpc>
                <a:spcPts val="2690"/>
              </a:lnSpc>
            </a:pPr>
            <a:r>
              <a:rPr lang="en-US" sz="2162" b="1" spc="23">
                <a:solidFill>
                  <a:srgbClr val="FFFFFF"/>
                </a:solidFill>
                <a:latin typeface="Garet Bold"/>
                <a:ea typeface="Garet Bold"/>
                <a:cs typeface="Garet Bold"/>
                <a:sym typeface="Garet Bold"/>
              </a:rPr>
              <a:t>- Soru sistemi.</a:t>
            </a:r>
          </a:p>
          <a:p>
            <a:pPr marL="0" lvl="0" indent="0" algn="l">
              <a:lnSpc>
                <a:spcPts val="2690"/>
              </a:lnSpc>
            </a:pPr>
            <a:r>
              <a:rPr lang="en-US" sz="2162" b="1" spc="23">
                <a:solidFill>
                  <a:srgbClr val="FFFFFF"/>
                </a:solidFill>
                <a:latin typeface="Garet Bold"/>
                <a:ea typeface="Garet Bold"/>
                <a:cs typeface="Garet Bold"/>
                <a:sym typeface="Garet Bold"/>
              </a:rPr>
              <a:t>- Oyun mekanikleri ve bonuslar.</a:t>
            </a:r>
          </a:p>
          <a:p>
            <a:pPr marL="0" lvl="0" indent="0" algn="l">
              <a:lnSpc>
                <a:spcPts val="2690"/>
              </a:lnSpc>
            </a:pPr>
            <a:endParaRPr lang="en-US" sz="2162" b="1" spc="23">
              <a:solidFill>
                <a:srgbClr val="FFFFFF"/>
              </a:solidFill>
              <a:latin typeface="Garet Bold"/>
              <a:ea typeface="Garet Bold"/>
              <a:cs typeface="Garet Bold"/>
              <a:sym typeface="Garet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grpSp>
        <p:nvGrpSpPr>
          <p:cNvPr id="3" name="Group 3"/>
          <p:cNvGrpSpPr/>
          <p:nvPr/>
        </p:nvGrpSpPr>
        <p:grpSpPr>
          <a:xfrm>
            <a:off x="1007756" y="3657304"/>
            <a:ext cx="3814287" cy="4026811"/>
            <a:chOff x="0" y="0"/>
            <a:chExt cx="980199" cy="1034814"/>
          </a:xfrm>
        </p:grpSpPr>
        <p:sp>
          <p:nvSpPr>
            <p:cNvPr id="4" name="Freeform 4"/>
            <p:cNvSpPr/>
            <p:nvPr/>
          </p:nvSpPr>
          <p:spPr>
            <a:xfrm>
              <a:off x="0" y="0"/>
              <a:ext cx="980199" cy="1034814"/>
            </a:xfrm>
            <a:custGeom>
              <a:avLst/>
              <a:gdLst/>
              <a:ahLst/>
              <a:cxnLst/>
              <a:rect l="l" t="t" r="r" b="b"/>
              <a:pathLst>
                <a:path w="980199" h="1034814">
                  <a:moveTo>
                    <a:pt x="34505" y="0"/>
                  </a:moveTo>
                  <a:lnTo>
                    <a:pt x="945694" y="0"/>
                  </a:lnTo>
                  <a:cubicBezTo>
                    <a:pt x="964751" y="0"/>
                    <a:pt x="980199" y="15448"/>
                    <a:pt x="980199" y="34505"/>
                  </a:cubicBezTo>
                  <a:lnTo>
                    <a:pt x="980199" y="1000309"/>
                  </a:lnTo>
                  <a:cubicBezTo>
                    <a:pt x="980199" y="1009460"/>
                    <a:pt x="976564" y="1018237"/>
                    <a:pt x="970093" y="1024708"/>
                  </a:cubicBezTo>
                  <a:cubicBezTo>
                    <a:pt x="963622" y="1031179"/>
                    <a:pt x="954846" y="1034814"/>
                    <a:pt x="945694" y="1034814"/>
                  </a:cubicBezTo>
                  <a:lnTo>
                    <a:pt x="34505" y="1034814"/>
                  </a:lnTo>
                  <a:cubicBezTo>
                    <a:pt x="15448" y="1034814"/>
                    <a:pt x="0" y="1019365"/>
                    <a:pt x="0" y="1000309"/>
                  </a:cubicBezTo>
                  <a:lnTo>
                    <a:pt x="0" y="34505"/>
                  </a:lnTo>
                  <a:cubicBezTo>
                    <a:pt x="0" y="15448"/>
                    <a:pt x="15448" y="0"/>
                    <a:pt x="34505" y="0"/>
                  </a:cubicBezTo>
                  <a:close/>
                </a:path>
              </a:pathLst>
            </a:custGeom>
            <a:solidFill>
              <a:srgbClr val="022F76">
                <a:alpha val="50980"/>
              </a:srgbClr>
            </a:solidFill>
          </p:spPr>
        </p:sp>
        <p:sp>
          <p:nvSpPr>
            <p:cNvPr id="5" name="TextBox 5"/>
            <p:cNvSpPr txBox="1"/>
            <p:nvPr/>
          </p:nvSpPr>
          <p:spPr>
            <a:xfrm>
              <a:off x="0" y="-28575"/>
              <a:ext cx="980199" cy="1063389"/>
            </a:xfrm>
            <a:prstGeom prst="rect">
              <a:avLst/>
            </a:prstGeom>
          </p:spPr>
          <p:txBody>
            <a:bodyPr lIns="50800" tIns="50800" rIns="50800" bIns="50800" rtlCol="0" anchor="ctr"/>
            <a:lstStyle/>
            <a:p>
              <a:pPr marL="0" lvl="0" indent="0" algn="ctr">
                <a:lnSpc>
                  <a:spcPts val="2377"/>
                </a:lnSpc>
              </a:pPr>
              <a:endParaRPr/>
            </a:p>
          </p:txBody>
        </p:sp>
      </p:grpSp>
      <p:sp>
        <p:nvSpPr>
          <p:cNvPr id="6" name="TextBox 6"/>
          <p:cNvSpPr txBox="1"/>
          <p:nvPr/>
        </p:nvSpPr>
        <p:spPr>
          <a:xfrm>
            <a:off x="1459587" y="5342534"/>
            <a:ext cx="2910626" cy="1983930"/>
          </a:xfrm>
          <a:prstGeom prst="rect">
            <a:avLst/>
          </a:prstGeom>
        </p:spPr>
        <p:txBody>
          <a:bodyPr lIns="0" tIns="0" rIns="0" bIns="0" rtlCol="0" anchor="t">
            <a:spAutoFit/>
          </a:bodyPr>
          <a:lstStyle/>
          <a:p>
            <a:pPr marL="0" lvl="0" indent="0" algn="l">
              <a:lnSpc>
                <a:spcPts val="1587"/>
              </a:lnSpc>
            </a:pPr>
            <a:r>
              <a:rPr lang="en-US" sz="1005">
                <a:solidFill>
                  <a:srgbClr val="FFFFFF"/>
                </a:solidFill>
                <a:latin typeface="Montserrat"/>
                <a:ea typeface="Montserrat"/>
                <a:cs typeface="Montserrat"/>
                <a:sym typeface="Montserrat"/>
              </a:rPr>
              <a:t>Bu projede değişkenler, oyunun çalışması için gerekli bilgileri saklamak amacıyla kullanılmıştır. Örneğin oyuncunun konumu, puanı, kalan süresi, seçilen tema ve zorluk seviyesi değişkenlerde tutulur. self.puan, oyuncunun kazandığı puanı saklarken; self.oyuncu_x ve self.oyuncu_y oyuncunun labirent içindeki yerini belirtir. Ayrıca renkler, ekran boyutu ve FPS değeri gibi sabit bilgiler de değişkenler aracılığıyla tanımlanmıştır.</a:t>
            </a:r>
          </a:p>
        </p:txBody>
      </p:sp>
      <p:sp>
        <p:nvSpPr>
          <p:cNvPr id="7" name="TextBox 7"/>
          <p:cNvSpPr txBox="1"/>
          <p:nvPr/>
        </p:nvSpPr>
        <p:spPr>
          <a:xfrm>
            <a:off x="1258449" y="4792025"/>
            <a:ext cx="3312902" cy="398108"/>
          </a:xfrm>
          <a:prstGeom prst="rect">
            <a:avLst/>
          </a:prstGeom>
        </p:spPr>
        <p:txBody>
          <a:bodyPr lIns="0" tIns="0" rIns="0" bIns="0" rtlCol="0" anchor="t">
            <a:spAutoFit/>
          </a:bodyPr>
          <a:lstStyle/>
          <a:p>
            <a:pPr marL="0" lvl="0" indent="0" algn="ctr">
              <a:lnSpc>
                <a:spcPts val="3257"/>
              </a:lnSpc>
              <a:spcBef>
                <a:spcPct val="0"/>
              </a:spcBef>
            </a:pPr>
            <a:r>
              <a:rPr lang="en-US" sz="2326" b="1">
                <a:solidFill>
                  <a:srgbClr val="FFFFFF"/>
                </a:solidFill>
                <a:latin typeface="Garet Bold"/>
                <a:ea typeface="Garet Bold"/>
                <a:cs typeface="Garet Bold"/>
                <a:sym typeface="Garet Bold"/>
              </a:rPr>
              <a:t>Değişkenler</a:t>
            </a:r>
          </a:p>
        </p:txBody>
      </p:sp>
      <p:sp>
        <p:nvSpPr>
          <p:cNvPr id="8" name="TextBox 8"/>
          <p:cNvSpPr txBox="1"/>
          <p:nvPr/>
        </p:nvSpPr>
        <p:spPr>
          <a:xfrm>
            <a:off x="2393950" y="3915907"/>
            <a:ext cx="1041901" cy="728824"/>
          </a:xfrm>
          <a:prstGeom prst="rect">
            <a:avLst/>
          </a:prstGeom>
        </p:spPr>
        <p:txBody>
          <a:bodyPr lIns="0" tIns="0" rIns="0" bIns="0" rtlCol="0" anchor="t">
            <a:spAutoFit/>
          </a:bodyPr>
          <a:lstStyle/>
          <a:p>
            <a:pPr marL="0" lvl="0" indent="0" algn="ctr">
              <a:lnSpc>
                <a:spcPts val="6028"/>
              </a:lnSpc>
              <a:spcBef>
                <a:spcPct val="0"/>
              </a:spcBef>
            </a:pPr>
            <a:r>
              <a:rPr lang="en-US" sz="4306" b="1">
                <a:solidFill>
                  <a:srgbClr val="FFFFFF"/>
                </a:solidFill>
                <a:latin typeface="Garet Bold"/>
                <a:ea typeface="Garet Bold"/>
                <a:cs typeface="Garet Bold"/>
                <a:sym typeface="Garet Bold"/>
              </a:rPr>
              <a:t>01</a:t>
            </a:r>
          </a:p>
        </p:txBody>
      </p:sp>
      <p:grpSp>
        <p:nvGrpSpPr>
          <p:cNvPr id="9" name="Group 9"/>
          <p:cNvGrpSpPr/>
          <p:nvPr/>
        </p:nvGrpSpPr>
        <p:grpSpPr>
          <a:xfrm>
            <a:off x="13465956" y="3657304"/>
            <a:ext cx="3814287" cy="4026811"/>
            <a:chOff x="0" y="0"/>
            <a:chExt cx="980199" cy="1034814"/>
          </a:xfrm>
        </p:grpSpPr>
        <p:sp>
          <p:nvSpPr>
            <p:cNvPr id="10" name="Freeform 10"/>
            <p:cNvSpPr/>
            <p:nvPr/>
          </p:nvSpPr>
          <p:spPr>
            <a:xfrm>
              <a:off x="0" y="0"/>
              <a:ext cx="980199" cy="1034814"/>
            </a:xfrm>
            <a:custGeom>
              <a:avLst/>
              <a:gdLst/>
              <a:ahLst/>
              <a:cxnLst/>
              <a:rect l="l" t="t" r="r" b="b"/>
              <a:pathLst>
                <a:path w="980199" h="1034814">
                  <a:moveTo>
                    <a:pt x="34505" y="0"/>
                  </a:moveTo>
                  <a:lnTo>
                    <a:pt x="945694" y="0"/>
                  </a:lnTo>
                  <a:cubicBezTo>
                    <a:pt x="964751" y="0"/>
                    <a:pt x="980199" y="15448"/>
                    <a:pt x="980199" y="34505"/>
                  </a:cubicBezTo>
                  <a:lnTo>
                    <a:pt x="980199" y="1000309"/>
                  </a:lnTo>
                  <a:cubicBezTo>
                    <a:pt x="980199" y="1009460"/>
                    <a:pt x="976564" y="1018237"/>
                    <a:pt x="970093" y="1024708"/>
                  </a:cubicBezTo>
                  <a:cubicBezTo>
                    <a:pt x="963622" y="1031179"/>
                    <a:pt x="954846" y="1034814"/>
                    <a:pt x="945694" y="1034814"/>
                  </a:cubicBezTo>
                  <a:lnTo>
                    <a:pt x="34505" y="1034814"/>
                  </a:lnTo>
                  <a:cubicBezTo>
                    <a:pt x="15448" y="1034814"/>
                    <a:pt x="0" y="1019365"/>
                    <a:pt x="0" y="1000309"/>
                  </a:cubicBezTo>
                  <a:lnTo>
                    <a:pt x="0" y="34505"/>
                  </a:lnTo>
                  <a:cubicBezTo>
                    <a:pt x="0" y="15448"/>
                    <a:pt x="15448" y="0"/>
                    <a:pt x="34505" y="0"/>
                  </a:cubicBezTo>
                  <a:close/>
                </a:path>
              </a:pathLst>
            </a:custGeom>
            <a:solidFill>
              <a:srgbClr val="022F76">
                <a:alpha val="50980"/>
              </a:srgbClr>
            </a:solidFill>
          </p:spPr>
        </p:sp>
        <p:sp>
          <p:nvSpPr>
            <p:cNvPr id="11" name="TextBox 11"/>
            <p:cNvSpPr txBox="1"/>
            <p:nvPr/>
          </p:nvSpPr>
          <p:spPr>
            <a:xfrm>
              <a:off x="0" y="-28575"/>
              <a:ext cx="980199" cy="1063389"/>
            </a:xfrm>
            <a:prstGeom prst="rect">
              <a:avLst/>
            </a:prstGeom>
          </p:spPr>
          <p:txBody>
            <a:bodyPr lIns="50800" tIns="50800" rIns="50800" bIns="50800" rtlCol="0" anchor="ctr"/>
            <a:lstStyle/>
            <a:p>
              <a:pPr marL="0" lvl="0" indent="0" algn="ctr">
                <a:lnSpc>
                  <a:spcPts val="2377"/>
                </a:lnSpc>
              </a:pPr>
              <a:endParaRPr/>
            </a:p>
          </p:txBody>
        </p:sp>
      </p:grpSp>
      <p:sp>
        <p:nvSpPr>
          <p:cNvPr id="12" name="TextBox 12"/>
          <p:cNvSpPr txBox="1"/>
          <p:nvPr/>
        </p:nvSpPr>
        <p:spPr>
          <a:xfrm>
            <a:off x="13917787" y="5143500"/>
            <a:ext cx="2910626" cy="2183363"/>
          </a:xfrm>
          <a:prstGeom prst="rect">
            <a:avLst/>
          </a:prstGeom>
        </p:spPr>
        <p:txBody>
          <a:bodyPr lIns="0" tIns="0" rIns="0" bIns="0" rtlCol="0" anchor="t">
            <a:spAutoFit/>
          </a:bodyPr>
          <a:lstStyle/>
          <a:p>
            <a:pPr marL="0" lvl="0" indent="0" algn="l">
              <a:lnSpc>
                <a:spcPts val="1587"/>
              </a:lnSpc>
            </a:pPr>
            <a:r>
              <a:rPr lang="en-US" sz="1005">
                <a:solidFill>
                  <a:srgbClr val="FFFFFF"/>
                </a:solidFill>
                <a:latin typeface="Montserrat"/>
                <a:ea typeface="Montserrat"/>
                <a:cs typeface="Montserrat"/>
                <a:sym typeface="Montserrat"/>
              </a:rPr>
              <a:t>Fonksiyonlar, kodun daha düzenli ve anlaşılır olmasını sağlar. Bu projede her görev ayrı bir fonksiyonla yapılmıştır. Örneğin labirent_olustur() fonksiyonu labirenti oluşturur, soru_olustur() fonksiyonu matematik sorusu üretir, hareket_et() fonksiyonu oyuncunun hareketini kontrol eder. run() fonksiyonu ise oyunun ana çalışma döngüsünü yönetir. Fonksiyonlar sayesinde kod tekrarından kaçınılmış ve proje daha kolay geliştirilebilir hale getirilmiştir.</a:t>
            </a:r>
          </a:p>
        </p:txBody>
      </p:sp>
      <p:sp>
        <p:nvSpPr>
          <p:cNvPr id="13" name="TextBox 13"/>
          <p:cNvSpPr txBox="1"/>
          <p:nvPr/>
        </p:nvSpPr>
        <p:spPr>
          <a:xfrm>
            <a:off x="14365313" y="4775642"/>
            <a:ext cx="2015574" cy="398108"/>
          </a:xfrm>
          <a:prstGeom prst="rect">
            <a:avLst/>
          </a:prstGeom>
        </p:spPr>
        <p:txBody>
          <a:bodyPr lIns="0" tIns="0" rIns="0" bIns="0" rtlCol="0" anchor="t">
            <a:spAutoFit/>
          </a:bodyPr>
          <a:lstStyle/>
          <a:p>
            <a:pPr marL="0" lvl="0" indent="0" algn="ctr">
              <a:lnSpc>
                <a:spcPts val="3257"/>
              </a:lnSpc>
              <a:spcBef>
                <a:spcPct val="0"/>
              </a:spcBef>
            </a:pPr>
            <a:r>
              <a:rPr lang="en-US" sz="2326" b="1">
                <a:solidFill>
                  <a:srgbClr val="FFFFFF"/>
                </a:solidFill>
                <a:latin typeface="Garet Bold"/>
                <a:ea typeface="Garet Bold"/>
                <a:cs typeface="Garet Bold"/>
                <a:sym typeface="Garet Bold"/>
              </a:rPr>
              <a:t>Fonksiyonlar</a:t>
            </a:r>
          </a:p>
        </p:txBody>
      </p:sp>
      <p:sp>
        <p:nvSpPr>
          <p:cNvPr id="14" name="TextBox 14"/>
          <p:cNvSpPr txBox="1"/>
          <p:nvPr/>
        </p:nvSpPr>
        <p:spPr>
          <a:xfrm>
            <a:off x="14852150" y="3955857"/>
            <a:ext cx="1041901" cy="728824"/>
          </a:xfrm>
          <a:prstGeom prst="rect">
            <a:avLst/>
          </a:prstGeom>
        </p:spPr>
        <p:txBody>
          <a:bodyPr lIns="0" tIns="0" rIns="0" bIns="0" rtlCol="0" anchor="t">
            <a:spAutoFit/>
          </a:bodyPr>
          <a:lstStyle/>
          <a:p>
            <a:pPr marL="0" lvl="0" indent="0" algn="ctr">
              <a:lnSpc>
                <a:spcPts val="6028"/>
              </a:lnSpc>
              <a:spcBef>
                <a:spcPct val="0"/>
              </a:spcBef>
            </a:pPr>
            <a:r>
              <a:rPr lang="en-US" sz="4306" b="1">
                <a:solidFill>
                  <a:srgbClr val="FFFFFF"/>
                </a:solidFill>
                <a:latin typeface="Garet Bold"/>
                <a:ea typeface="Garet Bold"/>
                <a:cs typeface="Garet Bold"/>
                <a:sym typeface="Garet Bold"/>
              </a:rPr>
              <a:t>04</a:t>
            </a:r>
          </a:p>
        </p:txBody>
      </p:sp>
      <p:grpSp>
        <p:nvGrpSpPr>
          <p:cNvPr id="15" name="Group 15"/>
          <p:cNvGrpSpPr/>
          <p:nvPr/>
        </p:nvGrpSpPr>
        <p:grpSpPr>
          <a:xfrm>
            <a:off x="9313223" y="3657304"/>
            <a:ext cx="3814287" cy="4026811"/>
            <a:chOff x="0" y="0"/>
            <a:chExt cx="980199" cy="1034814"/>
          </a:xfrm>
        </p:grpSpPr>
        <p:sp>
          <p:nvSpPr>
            <p:cNvPr id="16" name="Freeform 16"/>
            <p:cNvSpPr/>
            <p:nvPr/>
          </p:nvSpPr>
          <p:spPr>
            <a:xfrm>
              <a:off x="0" y="0"/>
              <a:ext cx="980199" cy="1034814"/>
            </a:xfrm>
            <a:custGeom>
              <a:avLst/>
              <a:gdLst/>
              <a:ahLst/>
              <a:cxnLst/>
              <a:rect l="l" t="t" r="r" b="b"/>
              <a:pathLst>
                <a:path w="980199" h="1034814">
                  <a:moveTo>
                    <a:pt x="34505" y="0"/>
                  </a:moveTo>
                  <a:lnTo>
                    <a:pt x="945694" y="0"/>
                  </a:lnTo>
                  <a:cubicBezTo>
                    <a:pt x="964751" y="0"/>
                    <a:pt x="980199" y="15448"/>
                    <a:pt x="980199" y="34505"/>
                  </a:cubicBezTo>
                  <a:lnTo>
                    <a:pt x="980199" y="1000309"/>
                  </a:lnTo>
                  <a:cubicBezTo>
                    <a:pt x="980199" y="1009460"/>
                    <a:pt x="976564" y="1018237"/>
                    <a:pt x="970093" y="1024708"/>
                  </a:cubicBezTo>
                  <a:cubicBezTo>
                    <a:pt x="963622" y="1031179"/>
                    <a:pt x="954846" y="1034814"/>
                    <a:pt x="945694" y="1034814"/>
                  </a:cubicBezTo>
                  <a:lnTo>
                    <a:pt x="34505" y="1034814"/>
                  </a:lnTo>
                  <a:cubicBezTo>
                    <a:pt x="15448" y="1034814"/>
                    <a:pt x="0" y="1019365"/>
                    <a:pt x="0" y="1000309"/>
                  </a:cubicBezTo>
                  <a:lnTo>
                    <a:pt x="0" y="34505"/>
                  </a:lnTo>
                  <a:cubicBezTo>
                    <a:pt x="0" y="15448"/>
                    <a:pt x="15448" y="0"/>
                    <a:pt x="34505" y="0"/>
                  </a:cubicBezTo>
                  <a:close/>
                </a:path>
              </a:pathLst>
            </a:custGeom>
            <a:solidFill>
              <a:srgbClr val="022F76">
                <a:alpha val="50980"/>
              </a:srgbClr>
            </a:solidFill>
          </p:spPr>
        </p:sp>
        <p:sp>
          <p:nvSpPr>
            <p:cNvPr id="17" name="TextBox 17"/>
            <p:cNvSpPr txBox="1"/>
            <p:nvPr/>
          </p:nvSpPr>
          <p:spPr>
            <a:xfrm>
              <a:off x="0" y="-28575"/>
              <a:ext cx="980199" cy="1063389"/>
            </a:xfrm>
            <a:prstGeom prst="rect">
              <a:avLst/>
            </a:prstGeom>
          </p:spPr>
          <p:txBody>
            <a:bodyPr lIns="50800" tIns="50800" rIns="50800" bIns="50800" rtlCol="0" anchor="ctr"/>
            <a:lstStyle/>
            <a:p>
              <a:pPr marL="0" lvl="0" indent="0" algn="ctr">
                <a:lnSpc>
                  <a:spcPts val="2377"/>
                </a:lnSpc>
              </a:pPr>
              <a:endParaRPr/>
            </a:p>
          </p:txBody>
        </p:sp>
      </p:grpSp>
      <p:sp>
        <p:nvSpPr>
          <p:cNvPr id="18" name="TextBox 18"/>
          <p:cNvSpPr txBox="1"/>
          <p:nvPr/>
        </p:nvSpPr>
        <p:spPr>
          <a:xfrm>
            <a:off x="9765352" y="5342534"/>
            <a:ext cx="2910626" cy="1983930"/>
          </a:xfrm>
          <a:prstGeom prst="rect">
            <a:avLst/>
          </a:prstGeom>
        </p:spPr>
        <p:txBody>
          <a:bodyPr lIns="0" tIns="0" rIns="0" bIns="0" rtlCol="0" anchor="t">
            <a:spAutoFit/>
          </a:bodyPr>
          <a:lstStyle/>
          <a:p>
            <a:pPr marL="0" lvl="0" indent="0" algn="l">
              <a:lnSpc>
                <a:spcPts val="1587"/>
              </a:lnSpc>
            </a:pPr>
            <a:r>
              <a:rPr lang="en-US" sz="1005">
                <a:solidFill>
                  <a:srgbClr val="FFFFFF"/>
                </a:solidFill>
                <a:latin typeface="Montserrat"/>
                <a:ea typeface="Montserrat"/>
                <a:cs typeface="Montserrat"/>
                <a:sym typeface="Montserrat"/>
              </a:rPr>
              <a:t>Koşullar, oyundaki karar mekanizmasını sağlar. Örneğin oyuncu duvara çarptığında hareket etmemesi, soru kutusuna geldiğinde soru ekranının açılması veya hedefe ulaştığında kazanma ekranına geçilmesi koşullar ile yapılır. Kodda if, elif ve else yapıları sıkça kullanılmıştır. Ayrıca zorluk seçimine göre süre ve soru türü değişmektedir. Bu sayede oyun farklı durumlara göre farklı tepkiler verebilir.</a:t>
            </a:r>
          </a:p>
        </p:txBody>
      </p:sp>
      <p:sp>
        <p:nvSpPr>
          <p:cNvPr id="19" name="TextBox 19"/>
          <p:cNvSpPr txBox="1"/>
          <p:nvPr/>
        </p:nvSpPr>
        <p:spPr>
          <a:xfrm>
            <a:off x="10108911" y="4792025"/>
            <a:ext cx="2222911" cy="398108"/>
          </a:xfrm>
          <a:prstGeom prst="rect">
            <a:avLst/>
          </a:prstGeom>
        </p:spPr>
        <p:txBody>
          <a:bodyPr lIns="0" tIns="0" rIns="0" bIns="0" rtlCol="0" anchor="t">
            <a:spAutoFit/>
          </a:bodyPr>
          <a:lstStyle/>
          <a:p>
            <a:pPr marL="0" lvl="0" indent="0" algn="ctr">
              <a:lnSpc>
                <a:spcPts val="3257"/>
              </a:lnSpc>
              <a:spcBef>
                <a:spcPct val="0"/>
              </a:spcBef>
            </a:pPr>
            <a:r>
              <a:rPr lang="en-US" sz="2326" b="1">
                <a:solidFill>
                  <a:srgbClr val="FFFFFF"/>
                </a:solidFill>
                <a:latin typeface="Garet Bold"/>
                <a:ea typeface="Garet Bold"/>
                <a:cs typeface="Garet Bold"/>
                <a:sym typeface="Garet Bold"/>
              </a:rPr>
              <a:t>Koşullar</a:t>
            </a:r>
          </a:p>
        </p:txBody>
      </p:sp>
      <p:sp>
        <p:nvSpPr>
          <p:cNvPr id="20" name="TextBox 20"/>
          <p:cNvSpPr txBox="1"/>
          <p:nvPr/>
        </p:nvSpPr>
        <p:spPr>
          <a:xfrm>
            <a:off x="10699416" y="3904954"/>
            <a:ext cx="1041901" cy="728824"/>
          </a:xfrm>
          <a:prstGeom prst="rect">
            <a:avLst/>
          </a:prstGeom>
        </p:spPr>
        <p:txBody>
          <a:bodyPr lIns="0" tIns="0" rIns="0" bIns="0" rtlCol="0" anchor="t">
            <a:spAutoFit/>
          </a:bodyPr>
          <a:lstStyle/>
          <a:p>
            <a:pPr marL="0" lvl="0" indent="0" algn="ctr">
              <a:lnSpc>
                <a:spcPts val="6028"/>
              </a:lnSpc>
              <a:spcBef>
                <a:spcPct val="0"/>
              </a:spcBef>
            </a:pPr>
            <a:r>
              <a:rPr lang="en-US" sz="4306" b="1">
                <a:solidFill>
                  <a:srgbClr val="FFFFFF"/>
                </a:solidFill>
                <a:latin typeface="Garet Bold"/>
                <a:ea typeface="Garet Bold"/>
                <a:cs typeface="Garet Bold"/>
                <a:sym typeface="Garet Bold"/>
              </a:rPr>
              <a:t>03</a:t>
            </a:r>
          </a:p>
        </p:txBody>
      </p:sp>
      <p:grpSp>
        <p:nvGrpSpPr>
          <p:cNvPr id="21" name="Group 21"/>
          <p:cNvGrpSpPr/>
          <p:nvPr/>
        </p:nvGrpSpPr>
        <p:grpSpPr>
          <a:xfrm>
            <a:off x="5160490" y="3657304"/>
            <a:ext cx="3814287" cy="4026811"/>
            <a:chOff x="0" y="0"/>
            <a:chExt cx="980199" cy="1034814"/>
          </a:xfrm>
        </p:grpSpPr>
        <p:sp>
          <p:nvSpPr>
            <p:cNvPr id="22" name="Freeform 22"/>
            <p:cNvSpPr/>
            <p:nvPr/>
          </p:nvSpPr>
          <p:spPr>
            <a:xfrm>
              <a:off x="0" y="0"/>
              <a:ext cx="980199" cy="1034814"/>
            </a:xfrm>
            <a:custGeom>
              <a:avLst/>
              <a:gdLst/>
              <a:ahLst/>
              <a:cxnLst/>
              <a:rect l="l" t="t" r="r" b="b"/>
              <a:pathLst>
                <a:path w="980199" h="1034814">
                  <a:moveTo>
                    <a:pt x="34505" y="0"/>
                  </a:moveTo>
                  <a:lnTo>
                    <a:pt x="945694" y="0"/>
                  </a:lnTo>
                  <a:cubicBezTo>
                    <a:pt x="964751" y="0"/>
                    <a:pt x="980199" y="15448"/>
                    <a:pt x="980199" y="34505"/>
                  </a:cubicBezTo>
                  <a:lnTo>
                    <a:pt x="980199" y="1000309"/>
                  </a:lnTo>
                  <a:cubicBezTo>
                    <a:pt x="980199" y="1009460"/>
                    <a:pt x="976564" y="1018237"/>
                    <a:pt x="970093" y="1024708"/>
                  </a:cubicBezTo>
                  <a:cubicBezTo>
                    <a:pt x="963622" y="1031179"/>
                    <a:pt x="954846" y="1034814"/>
                    <a:pt x="945694" y="1034814"/>
                  </a:cubicBezTo>
                  <a:lnTo>
                    <a:pt x="34505" y="1034814"/>
                  </a:lnTo>
                  <a:cubicBezTo>
                    <a:pt x="15448" y="1034814"/>
                    <a:pt x="0" y="1019365"/>
                    <a:pt x="0" y="1000309"/>
                  </a:cubicBezTo>
                  <a:lnTo>
                    <a:pt x="0" y="34505"/>
                  </a:lnTo>
                  <a:cubicBezTo>
                    <a:pt x="0" y="15448"/>
                    <a:pt x="15448" y="0"/>
                    <a:pt x="34505" y="0"/>
                  </a:cubicBezTo>
                  <a:close/>
                </a:path>
              </a:pathLst>
            </a:custGeom>
            <a:solidFill>
              <a:srgbClr val="022F76">
                <a:alpha val="50980"/>
              </a:srgbClr>
            </a:solidFill>
          </p:spPr>
        </p:sp>
        <p:sp>
          <p:nvSpPr>
            <p:cNvPr id="23" name="TextBox 23"/>
            <p:cNvSpPr txBox="1"/>
            <p:nvPr/>
          </p:nvSpPr>
          <p:spPr>
            <a:xfrm>
              <a:off x="0" y="-28575"/>
              <a:ext cx="980199" cy="1063389"/>
            </a:xfrm>
            <a:prstGeom prst="rect">
              <a:avLst/>
            </a:prstGeom>
          </p:spPr>
          <p:txBody>
            <a:bodyPr lIns="50800" tIns="50800" rIns="50800" bIns="50800" rtlCol="0" anchor="ctr"/>
            <a:lstStyle/>
            <a:p>
              <a:pPr marL="0" lvl="0" indent="0" algn="ctr">
                <a:lnSpc>
                  <a:spcPts val="2377"/>
                </a:lnSpc>
              </a:pPr>
              <a:endParaRPr/>
            </a:p>
          </p:txBody>
        </p:sp>
      </p:grpSp>
      <p:sp>
        <p:nvSpPr>
          <p:cNvPr id="24" name="TextBox 24"/>
          <p:cNvSpPr txBox="1"/>
          <p:nvPr/>
        </p:nvSpPr>
        <p:spPr>
          <a:xfrm>
            <a:off x="5612321" y="5342534"/>
            <a:ext cx="2910626" cy="1983930"/>
          </a:xfrm>
          <a:prstGeom prst="rect">
            <a:avLst/>
          </a:prstGeom>
        </p:spPr>
        <p:txBody>
          <a:bodyPr lIns="0" tIns="0" rIns="0" bIns="0" rtlCol="0" anchor="t">
            <a:spAutoFit/>
          </a:bodyPr>
          <a:lstStyle/>
          <a:p>
            <a:pPr marL="0" lvl="0" indent="0" algn="l">
              <a:lnSpc>
                <a:spcPts val="1587"/>
              </a:lnSpc>
            </a:pPr>
            <a:r>
              <a:rPr lang="en-US" sz="1005">
                <a:solidFill>
                  <a:srgbClr val="FFFFFF"/>
                </a:solidFill>
                <a:latin typeface="Montserrat"/>
                <a:ea typeface="Montserrat"/>
                <a:cs typeface="Montserrat"/>
                <a:sym typeface="Montserrat"/>
              </a:rPr>
              <a:t>Oyunda döngüler, ekranın sürekli yenilenmesi ve oyunun devam etmesi için kullanılmıştır. Ana oyun döngüsü while self.running: yapısı ile oluşturulmuştur. Bu döngü sayesinde oyun kapanana kadar olaylar kontrol edilir, ekran çizilir ve oyuncu hareketleri algılanır. Ayrıca labirentin satır ve sütunlarını çizmek için for döngüleri kullanılmıştır. Böylece labirentteki her hücre tek tek kontrol edilerek ekrana yansıtılır.</a:t>
            </a:r>
          </a:p>
        </p:txBody>
      </p:sp>
      <p:sp>
        <p:nvSpPr>
          <p:cNvPr id="25" name="TextBox 25"/>
          <p:cNvSpPr txBox="1"/>
          <p:nvPr/>
        </p:nvSpPr>
        <p:spPr>
          <a:xfrm>
            <a:off x="5292142" y="4775642"/>
            <a:ext cx="3550983" cy="398108"/>
          </a:xfrm>
          <a:prstGeom prst="rect">
            <a:avLst/>
          </a:prstGeom>
        </p:spPr>
        <p:txBody>
          <a:bodyPr lIns="0" tIns="0" rIns="0" bIns="0" rtlCol="0" anchor="t">
            <a:spAutoFit/>
          </a:bodyPr>
          <a:lstStyle/>
          <a:p>
            <a:pPr marL="0" lvl="0" indent="0" algn="ctr">
              <a:lnSpc>
                <a:spcPts val="3257"/>
              </a:lnSpc>
              <a:spcBef>
                <a:spcPct val="0"/>
              </a:spcBef>
            </a:pPr>
            <a:r>
              <a:rPr lang="en-US" sz="2326" b="1">
                <a:solidFill>
                  <a:srgbClr val="FFFFFF"/>
                </a:solidFill>
                <a:latin typeface="Garet Bold"/>
                <a:ea typeface="Garet Bold"/>
                <a:cs typeface="Garet Bold"/>
                <a:sym typeface="Garet Bold"/>
              </a:rPr>
              <a:t>Döngüler</a:t>
            </a:r>
          </a:p>
        </p:txBody>
      </p:sp>
      <p:sp>
        <p:nvSpPr>
          <p:cNvPr id="26" name="TextBox 26"/>
          <p:cNvSpPr txBox="1"/>
          <p:nvPr/>
        </p:nvSpPr>
        <p:spPr>
          <a:xfrm>
            <a:off x="6546683" y="3904954"/>
            <a:ext cx="1041901" cy="728824"/>
          </a:xfrm>
          <a:prstGeom prst="rect">
            <a:avLst/>
          </a:prstGeom>
        </p:spPr>
        <p:txBody>
          <a:bodyPr lIns="0" tIns="0" rIns="0" bIns="0" rtlCol="0" anchor="t">
            <a:spAutoFit/>
          </a:bodyPr>
          <a:lstStyle/>
          <a:p>
            <a:pPr marL="0" lvl="0" indent="0" algn="ctr">
              <a:lnSpc>
                <a:spcPts val="6028"/>
              </a:lnSpc>
              <a:spcBef>
                <a:spcPct val="0"/>
              </a:spcBef>
            </a:pPr>
            <a:r>
              <a:rPr lang="en-US" sz="4306" b="1">
                <a:solidFill>
                  <a:srgbClr val="FFFFFF"/>
                </a:solidFill>
                <a:latin typeface="Garet Bold"/>
                <a:ea typeface="Garet Bold"/>
                <a:cs typeface="Garet Bold"/>
                <a:sym typeface="Garet Bold"/>
              </a:rPr>
              <a:t>02</a:t>
            </a:r>
          </a:p>
        </p:txBody>
      </p:sp>
      <p:sp>
        <p:nvSpPr>
          <p:cNvPr id="27" name="TextBox 27"/>
          <p:cNvSpPr txBox="1"/>
          <p:nvPr/>
        </p:nvSpPr>
        <p:spPr>
          <a:xfrm>
            <a:off x="2013804" y="1192486"/>
            <a:ext cx="14260391" cy="1345979"/>
          </a:xfrm>
          <a:prstGeom prst="rect">
            <a:avLst/>
          </a:prstGeom>
        </p:spPr>
        <p:txBody>
          <a:bodyPr lIns="0" tIns="0" rIns="0" bIns="0" rtlCol="0" anchor="t">
            <a:spAutoFit/>
          </a:bodyPr>
          <a:lstStyle/>
          <a:p>
            <a:pPr marL="0" lvl="0" indent="0" algn="ctr">
              <a:lnSpc>
                <a:spcPts val="11022"/>
              </a:lnSpc>
              <a:spcBef>
                <a:spcPct val="0"/>
              </a:spcBef>
            </a:pPr>
            <a:r>
              <a:rPr lang="en-US" sz="7873" b="1">
                <a:solidFill>
                  <a:srgbClr val="FFFFFF"/>
                </a:solidFill>
                <a:latin typeface="Garet Bold"/>
                <a:ea typeface="Garet Bold"/>
                <a:cs typeface="Garet Bold"/>
                <a:sym typeface="Garet Bold"/>
              </a:rPr>
              <a:t>TEMEL KODLAR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grpSp>
        <p:nvGrpSpPr>
          <p:cNvPr id="3" name="Group 3"/>
          <p:cNvGrpSpPr/>
          <p:nvPr/>
        </p:nvGrpSpPr>
        <p:grpSpPr>
          <a:xfrm>
            <a:off x="11477885" y="3465938"/>
            <a:ext cx="5066382" cy="5538876"/>
            <a:chOff x="0" y="0"/>
            <a:chExt cx="1301964" cy="1423386"/>
          </a:xfrm>
        </p:grpSpPr>
        <p:sp>
          <p:nvSpPr>
            <p:cNvPr id="4" name="Freeform 4"/>
            <p:cNvSpPr/>
            <p:nvPr/>
          </p:nvSpPr>
          <p:spPr>
            <a:xfrm>
              <a:off x="0" y="0"/>
              <a:ext cx="1301964" cy="1423386"/>
            </a:xfrm>
            <a:custGeom>
              <a:avLst/>
              <a:gdLst/>
              <a:ahLst/>
              <a:cxnLst/>
              <a:rect l="l" t="t" r="r" b="b"/>
              <a:pathLst>
                <a:path w="1301964" h="1423386">
                  <a:moveTo>
                    <a:pt x="25978" y="0"/>
                  </a:moveTo>
                  <a:lnTo>
                    <a:pt x="1275986" y="0"/>
                  </a:lnTo>
                  <a:cubicBezTo>
                    <a:pt x="1290333" y="0"/>
                    <a:pt x="1301964" y="11631"/>
                    <a:pt x="1301964" y="25978"/>
                  </a:cubicBezTo>
                  <a:lnTo>
                    <a:pt x="1301964" y="1397408"/>
                  </a:lnTo>
                  <a:cubicBezTo>
                    <a:pt x="1301964" y="1404298"/>
                    <a:pt x="1299227" y="1410905"/>
                    <a:pt x="1294355" y="1415777"/>
                  </a:cubicBezTo>
                  <a:cubicBezTo>
                    <a:pt x="1289483" y="1420649"/>
                    <a:pt x="1282876" y="1423386"/>
                    <a:pt x="1275986" y="1423386"/>
                  </a:cubicBezTo>
                  <a:lnTo>
                    <a:pt x="25978" y="1423386"/>
                  </a:lnTo>
                  <a:cubicBezTo>
                    <a:pt x="19088" y="1423386"/>
                    <a:pt x="12480" y="1420649"/>
                    <a:pt x="7609" y="1415777"/>
                  </a:cubicBezTo>
                  <a:cubicBezTo>
                    <a:pt x="2737" y="1410905"/>
                    <a:pt x="0" y="1404298"/>
                    <a:pt x="0" y="1397408"/>
                  </a:cubicBezTo>
                  <a:lnTo>
                    <a:pt x="0" y="25978"/>
                  </a:lnTo>
                  <a:cubicBezTo>
                    <a:pt x="0" y="19088"/>
                    <a:pt x="2737" y="12480"/>
                    <a:pt x="7609" y="7609"/>
                  </a:cubicBezTo>
                  <a:cubicBezTo>
                    <a:pt x="12480" y="2737"/>
                    <a:pt x="19088" y="0"/>
                    <a:pt x="25978" y="0"/>
                  </a:cubicBezTo>
                  <a:close/>
                </a:path>
              </a:pathLst>
            </a:custGeom>
            <a:solidFill>
              <a:srgbClr val="022F76">
                <a:alpha val="50980"/>
              </a:srgbClr>
            </a:solidFill>
          </p:spPr>
        </p:sp>
        <p:sp>
          <p:nvSpPr>
            <p:cNvPr id="5" name="TextBox 5"/>
            <p:cNvSpPr txBox="1"/>
            <p:nvPr/>
          </p:nvSpPr>
          <p:spPr>
            <a:xfrm>
              <a:off x="0" y="-28575"/>
              <a:ext cx="1301964" cy="1451961"/>
            </a:xfrm>
            <a:prstGeom prst="rect">
              <a:avLst/>
            </a:prstGeom>
          </p:spPr>
          <p:txBody>
            <a:bodyPr lIns="50800" tIns="50800" rIns="50800" bIns="50800" rtlCol="0" anchor="ctr"/>
            <a:lstStyle/>
            <a:p>
              <a:pPr marL="0" lvl="0" indent="0" algn="ctr">
                <a:lnSpc>
                  <a:spcPts val="2377"/>
                </a:lnSpc>
              </a:pPr>
              <a:endParaRPr/>
            </a:p>
          </p:txBody>
        </p:sp>
      </p:grpSp>
      <p:sp>
        <p:nvSpPr>
          <p:cNvPr id="6" name="TextBox 6"/>
          <p:cNvSpPr txBox="1"/>
          <p:nvPr/>
        </p:nvSpPr>
        <p:spPr>
          <a:xfrm>
            <a:off x="12120354" y="5073934"/>
            <a:ext cx="3708864" cy="2848312"/>
          </a:xfrm>
          <a:prstGeom prst="rect">
            <a:avLst/>
          </a:prstGeom>
        </p:spPr>
        <p:txBody>
          <a:bodyPr lIns="0" tIns="0" rIns="0" bIns="0" rtlCol="0" anchor="t">
            <a:spAutoFit/>
          </a:bodyPr>
          <a:lstStyle/>
          <a:p>
            <a:pPr marL="0" lvl="0" indent="0" algn="just">
              <a:lnSpc>
                <a:spcPts val="2304"/>
              </a:lnSpc>
            </a:pPr>
            <a:r>
              <a:rPr lang="en-US" sz="1422">
                <a:solidFill>
                  <a:srgbClr val="FFFFFF"/>
                </a:solidFill>
                <a:latin typeface="Montserrat"/>
                <a:ea typeface="Montserrat"/>
                <a:cs typeface="Montserrat"/>
                <a:sym typeface="Montserrat"/>
              </a:rPr>
              <a:t>Koşul yapıları (if, elif, else) oyunun karar verme mekanizmasını oluşturur. Örneğin oyuncu bir duvara çarptığında hareket edemez veya soru kutusuna geldiğinde yeni bir ekran açılır. Fonksiyonlar ise kodu daha düzenli hale getirir. labirent_olustur(), soru_olustur() ve hareket_et() gibi fonksiyonlar sayesinde her işlem ayrı ayrı yönetilir ve kod daha anlaşılır olur.</a:t>
            </a:r>
          </a:p>
        </p:txBody>
      </p:sp>
      <p:sp>
        <p:nvSpPr>
          <p:cNvPr id="7" name="TextBox 7"/>
          <p:cNvSpPr txBox="1"/>
          <p:nvPr/>
        </p:nvSpPr>
        <p:spPr>
          <a:xfrm>
            <a:off x="1304274" y="1989787"/>
            <a:ext cx="10265131" cy="920104"/>
          </a:xfrm>
          <a:prstGeom prst="rect">
            <a:avLst/>
          </a:prstGeom>
        </p:spPr>
        <p:txBody>
          <a:bodyPr lIns="0" tIns="0" rIns="0" bIns="0" rtlCol="0" anchor="t">
            <a:spAutoFit/>
          </a:bodyPr>
          <a:lstStyle/>
          <a:p>
            <a:pPr marL="0" lvl="0" indent="0" algn="l">
              <a:lnSpc>
                <a:spcPts val="7403"/>
              </a:lnSpc>
            </a:pPr>
            <a:r>
              <a:rPr lang="en-US" sz="5894" b="1">
                <a:solidFill>
                  <a:srgbClr val="FFFFFF"/>
                </a:solidFill>
                <a:latin typeface="Garet Bold"/>
                <a:ea typeface="Garet Bold"/>
                <a:cs typeface="Garet Bold"/>
                <a:sym typeface="Garet Bold"/>
              </a:rPr>
              <a:t>Temel Kod Örnekleri</a:t>
            </a:r>
          </a:p>
        </p:txBody>
      </p:sp>
      <p:grpSp>
        <p:nvGrpSpPr>
          <p:cNvPr id="8" name="Group 8"/>
          <p:cNvGrpSpPr/>
          <p:nvPr/>
        </p:nvGrpSpPr>
        <p:grpSpPr>
          <a:xfrm>
            <a:off x="756033" y="3465938"/>
            <a:ext cx="5066382" cy="5538876"/>
            <a:chOff x="0" y="0"/>
            <a:chExt cx="1301964" cy="1423386"/>
          </a:xfrm>
        </p:grpSpPr>
        <p:sp>
          <p:nvSpPr>
            <p:cNvPr id="9" name="Freeform 9"/>
            <p:cNvSpPr/>
            <p:nvPr/>
          </p:nvSpPr>
          <p:spPr>
            <a:xfrm>
              <a:off x="0" y="0"/>
              <a:ext cx="1301964" cy="1423386"/>
            </a:xfrm>
            <a:custGeom>
              <a:avLst/>
              <a:gdLst/>
              <a:ahLst/>
              <a:cxnLst/>
              <a:rect l="l" t="t" r="r" b="b"/>
              <a:pathLst>
                <a:path w="1301964" h="1423386">
                  <a:moveTo>
                    <a:pt x="25978" y="0"/>
                  </a:moveTo>
                  <a:lnTo>
                    <a:pt x="1275986" y="0"/>
                  </a:lnTo>
                  <a:cubicBezTo>
                    <a:pt x="1290333" y="0"/>
                    <a:pt x="1301964" y="11631"/>
                    <a:pt x="1301964" y="25978"/>
                  </a:cubicBezTo>
                  <a:lnTo>
                    <a:pt x="1301964" y="1397408"/>
                  </a:lnTo>
                  <a:cubicBezTo>
                    <a:pt x="1301964" y="1404298"/>
                    <a:pt x="1299227" y="1410905"/>
                    <a:pt x="1294355" y="1415777"/>
                  </a:cubicBezTo>
                  <a:cubicBezTo>
                    <a:pt x="1289483" y="1420649"/>
                    <a:pt x="1282876" y="1423386"/>
                    <a:pt x="1275986" y="1423386"/>
                  </a:cubicBezTo>
                  <a:lnTo>
                    <a:pt x="25978" y="1423386"/>
                  </a:lnTo>
                  <a:cubicBezTo>
                    <a:pt x="19088" y="1423386"/>
                    <a:pt x="12480" y="1420649"/>
                    <a:pt x="7609" y="1415777"/>
                  </a:cubicBezTo>
                  <a:cubicBezTo>
                    <a:pt x="2737" y="1410905"/>
                    <a:pt x="0" y="1404298"/>
                    <a:pt x="0" y="1397408"/>
                  </a:cubicBezTo>
                  <a:lnTo>
                    <a:pt x="0" y="25978"/>
                  </a:lnTo>
                  <a:cubicBezTo>
                    <a:pt x="0" y="19088"/>
                    <a:pt x="2737" y="12480"/>
                    <a:pt x="7609" y="7609"/>
                  </a:cubicBezTo>
                  <a:cubicBezTo>
                    <a:pt x="12480" y="2737"/>
                    <a:pt x="19088" y="0"/>
                    <a:pt x="25978" y="0"/>
                  </a:cubicBezTo>
                  <a:close/>
                </a:path>
              </a:pathLst>
            </a:custGeom>
            <a:solidFill>
              <a:srgbClr val="022F76">
                <a:alpha val="50980"/>
              </a:srgbClr>
            </a:solidFill>
          </p:spPr>
        </p:sp>
        <p:sp>
          <p:nvSpPr>
            <p:cNvPr id="10" name="TextBox 10"/>
            <p:cNvSpPr txBox="1"/>
            <p:nvPr/>
          </p:nvSpPr>
          <p:spPr>
            <a:xfrm>
              <a:off x="0" y="-28575"/>
              <a:ext cx="1301964" cy="1451961"/>
            </a:xfrm>
            <a:prstGeom prst="rect">
              <a:avLst/>
            </a:prstGeom>
          </p:spPr>
          <p:txBody>
            <a:bodyPr lIns="50800" tIns="50800" rIns="50800" bIns="50800" rtlCol="0" anchor="ctr"/>
            <a:lstStyle/>
            <a:p>
              <a:pPr marL="0" lvl="0" indent="0" algn="ctr">
                <a:lnSpc>
                  <a:spcPts val="2377"/>
                </a:lnSpc>
              </a:pPr>
              <a:endParaRPr/>
            </a:p>
          </p:txBody>
        </p:sp>
      </p:grpSp>
      <p:grpSp>
        <p:nvGrpSpPr>
          <p:cNvPr id="11" name="Group 11"/>
          <p:cNvGrpSpPr/>
          <p:nvPr/>
        </p:nvGrpSpPr>
        <p:grpSpPr>
          <a:xfrm>
            <a:off x="6116228" y="3465938"/>
            <a:ext cx="5066382" cy="5538876"/>
            <a:chOff x="0" y="0"/>
            <a:chExt cx="1301964" cy="1423386"/>
          </a:xfrm>
        </p:grpSpPr>
        <p:sp>
          <p:nvSpPr>
            <p:cNvPr id="12" name="Freeform 12"/>
            <p:cNvSpPr/>
            <p:nvPr/>
          </p:nvSpPr>
          <p:spPr>
            <a:xfrm>
              <a:off x="0" y="0"/>
              <a:ext cx="1301964" cy="1423386"/>
            </a:xfrm>
            <a:custGeom>
              <a:avLst/>
              <a:gdLst/>
              <a:ahLst/>
              <a:cxnLst/>
              <a:rect l="l" t="t" r="r" b="b"/>
              <a:pathLst>
                <a:path w="1301964" h="1423386">
                  <a:moveTo>
                    <a:pt x="25978" y="0"/>
                  </a:moveTo>
                  <a:lnTo>
                    <a:pt x="1275986" y="0"/>
                  </a:lnTo>
                  <a:cubicBezTo>
                    <a:pt x="1290333" y="0"/>
                    <a:pt x="1301964" y="11631"/>
                    <a:pt x="1301964" y="25978"/>
                  </a:cubicBezTo>
                  <a:lnTo>
                    <a:pt x="1301964" y="1397408"/>
                  </a:lnTo>
                  <a:cubicBezTo>
                    <a:pt x="1301964" y="1404298"/>
                    <a:pt x="1299227" y="1410905"/>
                    <a:pt x="1294355" y="1415777"/>
                  </a:cubicBezTo>
                  <a:cubicBezTo>
                    <a:pt x="1289483" y="1420649"/>
                    <a:pt x="1282876" y="1423386"/>
                    <a:pt x="1275986" y="1423386"/>
                  </a:cubicBezTo>
                  <a:lnTo>
                    <a:pt x="25978" y="1423386"/>
                  </a:lnTo>
                  <a:cubicBezTo>
                    <a:pt x="19088" y="1423386"/>
                    <a:pt x="12480" y="1420649"/>
                    <a:pt x="7609" y="1415777"/>
                  </a:cubicBezTo>
                  <a:cubicBezTo>
                    <a:pt x="2737" y="1410905"/>
                    <a:pt x="0" y="1404298"/>
                    <a:pt x="0" y="1397408"/>
                  </a:cubicBezTo>
                  <a:lnTo>
                    <a:pt x="0" y="25978"/>
                  </a:lnTo>
                  <a:cubicBezTo>
                    <a:pt x="0" y="19088"/>
                    <a:pt x="2737" y="12480"/>
                    <a:pt x="7609" y="7609"/>
                  </a:cubicBezTo>
                  <a:cubicBezTo>
                    <a:pt x="12480" y="2737"/>
                    <a:pt x="19088" y="0"/>
                    <a:pt x="25978" y="0"/>
                  </a:cubicBezTo>
                  <a:close/>
                </a:path>
              </a:pathLst>
            </a:custGeom>
            <a:solidFill>
              <a:srgbClr val="022F76">
                <a:alpha val="50980"/>
              </a:srgbClr>
            </a:solidFill>
          </p:spPr>
        </p:sp>
        <p:sp>
          <p:nvSpPr>
            <p:cNvPr id="13" name="TextBox 13"/>
            <p:cNvSpPr txBox="1"/>
            <p:nvPr/>
          </p:nvSpPr>
          <p:spPr>
            <a:xfrm>
              <a:off x="0" y="-28575"/>
              <a:ext cx="1301964" cy="1451961"/>
            </a:xfrm>
            <a:prstGeom prst="rect">
              <a:avLst/>
            </a:prstGeom>
          </p:spPr>
          <p:txBody>
            <a:bodyPr lIns="50800" tIns="50800" rIns="50800" bIns="50800" rtlCol="0" anchor="ctr"/>
            <a:lstStyle/>
            <a:p>
              <a:pPr marL="0" lvl="0" indent="0" algn="ctr">
                <a:lnSpc>
                  <a:spcPts val="2377"/>
                </a:lnSpc>
              </a:pPr>
              <a:endParaRPr/>
            </a:p>
          </p:txBody>
        </p:sp>
      </p:grpSp>
      <p:sp>
        <p:nvSpPr>
          <p:cNvPr id="14" name="TextBox 14"/>
          <p:cNvSpPr txBox="1"/>
          <p:nvPr/>
        </p:nvSpPr>
        <p:spPr>
          <a:xfrm>
            <a:off x="1389999" y="4198449"/>
            <a:ext cx="4140906" cy="358093"/>
          </a:xfrm>
          <a:prstGeom prst="rect">
            <a:avLst/>
          </a:prstGeom>
        </p:spPr>
        <p:txBody>
          <a:bodyPr lIns="0" tIns="0" rIns="0" bIns="0" rtlCol="0" anchor="t">
            <a:spAutoFit/>
          </a:bodyPr>
          <a:lstStyle/>
          <a:p>
            <a:pPr marL="0" lvl="0" indent="0" algn="l">
              <a:lnSpc>
                <a:spcPts val="2979"/>
              </a:lnSpc>
            </a:pPr>
            <a:r>
              <a:rPr lang="en-US" sz="2394" b="1">
                <a:solidFill>
                  <a:srgbClr val="FFFFFF"/>
                </a:solidFill>
                <a:latin typeface="Garet Bold"/>
                <a:ea typeface="Garet Bold"/>
                <a:cs typeface="Garet Bold"/>
                <a:sym typeface="Garet Bold"/>
              </a:rPr>
              <a:t>Değişken Tanımlama</a:t>
            </a:r>
          </a:p>
        </p:txBody>
      </p:sp>
      <p:sp>
        <p:nvSpPr>
          <p:cNvPr id="15" name="TextBox 15"/>
          <p:cNvSpPr txBox="1"/>
          <p:nvPr/>
        </p:nvSpPr>
        <p:spPr>
          <a:xfrm>
            <a:off x="12120354" y="4191758"/>
            <a:ext cx="4239817" cy="729568"/>
          </a:xfrm>
          <a:prstGeom prst="rect">
            <a:avLst/>
          </a:prstGeom>
        </p:spPr>
        <p:txBody>
          <a:bodyPr lIns="0" tIns="0" rIns="0" bIns="0" rtlCol="0" anchor="t">
            <a:spAutoFit/>
          </a:bodyPr>
          <a:lstStyle/>
          <a:p>
            <a:pPr marL="0" lvl="0" indent="0" algn="l">
              <a:lnSpc>
                <a:spcPts val="2979"/>
              </a:lnSpc>
            </a:pPr>
            <a:r>
              <a:rPr lang="en-US" sz="2394" b="1">
                <a:solidFill>
                  <a:srgbClr val="FFFFFF"/>
                </a:solidFill>
                <a:latin typeface="Garet Bold"/>
                <a:ea typeface="Garet Bold"/>
                <a:cs typeface="Garet Bold"/>
                <a:sym typeface="Garet Bold"/>
              </a:rPr>
              <a:t>Koşul Yapıları ve Fonksiyonlar</a:t>
            </a:r>
          </a:p>
        </p:txBody>
      </p:sp>
      <p:sp>
        <p:nvSpPr>
          <p:cNvPr id="16" name="TextBox 16"/>
          <p:cNvSpPr txBox="1"/>
          <p:nvPr/>
        </p:nvSpPr>
        <p:spPr>
          <a:xfrm>
            <a:off x="6750589" y="4198449"/>
            <a:ext cx="3708864" cy="358093"/>
          </a:xfrm>
          <a:prstGeom prst="rect">
            <a:avLst/>
          </a:prstGeom>
        </p:spPr>
        <p:txBody>
          <a:bodyPr lIns="0" tIns="0" rIns="0" bIns="0" rtlCol="0" anchor="t">
            <a:spAutoFit/>
          </a:bodyPr>
          <a:lstStyle/>
          <a:p>
            <a:pPr marL="0" lvl="0" indent="0" algn="l">
              <a:lnSpc>
                <a:spcPts val="2979"/>
              </a:lnSpc>
            </a:pPr>
            <a:r>
              <a:rPr lang="en-US" sz="2394" b="1">
                <a:solidFill>
                  <a:srgbClr val="FFFFFF"/>
                </a:solidFill>
                <a:latin typeface="Garet Bold"/>
                <a:ea typeface="Garet Bold"/>
                <a:cs typeface="Garet Bold"/>
                <a:sym typeface="Garet Bold"/>
              </a:rPr>
              <a:t>Döngü Kullanımı</a:t>
            </a:r>
          </a:p>
        </p:txBody>
      </p:sp>
      <p:sp>
        <p:nvSpPr>
          <p:cNvPr id="17" name="TextBox 17"/>
          <p:cNvSpPr txBox="1"/>
          <p:nvPr/>
        </p:nvSpPr>
        <p:spPr>
          <a:xfrm>
            <a:off x="1389999" y="5073934"/>
            <a:ext cx="3708864" cy="2848312"/>
          </a:xfrm>
          <a:prstGeom prst="rect">
            <a:avLst/>
          </a:prstGeom>
        </p:spPr>
        <p:txBody>
          <a:bodyPr lIns="0" tIns="0" rIns="0" bIns="0" rtlCol="0" anchor="t">
            <a:spAutoFit/>
          </a:bodyPr>
          <a:lstStyle/>
          <a:p>
            <a:pPr marL="0" lvl="0" indent="0" algn="just">
              <a:lnSpc>
                <a:spcPts val="2304"/>
              </a:lnSpc>
            </a:pPr>
            <a:r>
              <a:rPr lang="en-US" sz="1422">
                <a:solidFill>
                  <a:srgbClr val="FFFFFF"/>
                </a:solidFill>
                <a:latin typeface="Montserrat"/>
                <a:ea typeface="Montserrat"/>
                <a:cs typeface="Montserrat"/>
                <a:sym typeface="Montserrat"/>
              </a:rPr>
              <a:t>Bu projede değişkenler, oyunun temel yapı taşlarını oluşturur. Oyuncunun konumu, puanı, süre bilgisi ve oyun durumu gibi veriler değişkenlerde saklanır. Örneğin self.puan oyuncunun skorunu tutarken, SCREEN_WIDTH ve SCREEN_HEIGHT ekran boyutlarını belirler. Bu sayede oyun içerisindeki veriler düzenli ve kontrol edilebilir şekilde yönetilir.</a:t>
            </a:r>
          </a:p>
        </p:txBody>
      </p:sp>
      <p:sp>
        <p:nvSpPr>
          <p:cNvPr id="18" name="TextBox 18"/>
          <p:cNvSpPr txBox="1"/>
          <p:nvPr/>
        </p:nvSpPr>
        <p:spPr>
          <a:xfrm>
            <a:off x="6750589" y="5073934"/>
            <a:ext cx="3708864" cy="2562562"/>
          </a:xfrm>
          <a:prstGeom prst="rect">
            <a:avLst/>
          </a:prstGeom>
        </p:spPr>
        <p:txBody>
          <a:bodyPr lIns="0" tIns="0" rIns="0" bIns="0" rtlCol="0" anchor="t">
            <a:spAutoFit/>
          </a:bodyPr>
          <a:lstStyle/>
          <a:p>
            <a:pPr marL="0" lvl="0" indent="0" algn="just">
              <a:lnSpc>
                <a:spcPts val="2304"/>
              </a:lnSpc>
            </a:pPr>
            <a:r>
              <a:rPr lang="en-US" sz="1422">
                <a:solidFill>
                  <a:srgbClr val="FFFFFF"/>
                </a:solidFill>
                <a:latin typeface="Montserrat"/>
                <a:ea typeface="Montserrat"/>
                <a:cs typeface="Montserrat"/>
                <a:sym typeface="Montserrat"/>
              </a:rPr>
              <a:t>Oyunun sürekli çalışmasını sağlayan yapı döngülerdir. while self.running: döngüsü sayesinde oyun kapanana kadar sürekli olarak çalışır. Bu döngü içinde kullanıcıdan gelen girişler alınır, ekran güncellenir ve oyun içi olaylar kontrol edilir. Ayrıca for döngüleri ile labirentin her hücresi tek tek çizdirilerek oyun ekranı oluşturulur.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grpSp>
        <p:nvGrpSpPr>
          <p:cNvPr id="3" name="Group 3"/>
          <p:cNvGrpSpPr/>
          <p:nvPr/>
        </p:nvGrpSpPr>
        <p:grpSpPr>
          <a:xfrm>
            <a:off x="13336459" y="1403462"/>
            <a:ext cx="4170720" cy="5369015"/>
            <a:chOff x="0" y="0"/>
            <a:chExt cx="850777" cy="1095215"/>
          </a:xfrm>
        </p:grpSpPr>
        <p:sp>
          <p:nvSpPr>
            <p:cNvPr id="4" name="Freeform 4"/>
            <p:cNvSpPr/>
            <p:nvPr/>
          </p:nvSpPr>
          <p:spPr>
            <a:xfrm>
              <a:off x="0" y="0"/>
              <a:ext cx="850777" cy="1095215"/>
            </a:xfrm>
            <a:custGeom>
              <a:avLst/>
              <a:gdLst/>
              <a:ahLst/>
              <a:cxnLst/>
              <a:rect l="l" t="t" r="r" b="b"/>
              <a:pathLst>
                <a:path w="850777" h="1095215">
                  <a:moveTo>
                    <a:pt x="0" y="0"/>
                  </a:moveTo>
                  <a:lnTo>
                    <a:pt x="850777" y="0"/>
                  </a:lnTo>
                  <a:lnTo>
                    <a:pt x="850777" y="1095215"/>
                  </a:lnTo>
                  <a:lnTo>
                    <a:pt x="0" y="1095215"/>
                  </a:lnTo>
                  <a:close/>
                </a:path>
              </a:pathLst>
            </a:custGeom>
            <a:blipFill>
              <a:blip r:embed="rId3">
                <a:alphaModFix amt="86000"/>
              </a:blip>
              <a:stretch>
                <a:fillRect l="-39138" r="-50171"/>
              </a:stretch>
            </a:blipFill>
          </p:spPr>
        </p:sp>
      </p:grpSp>
      <p:grpSp>
        <p:nvGrpSpPr>
          <p:cNvPr id="5" name="Group 5"/>
          <p:cNvGrpSpPr/>
          <p:nvPr/>
        </p:nvGrpSpPr>
        <p:grpSpPr>
          <a:xfrm>
            <a:off x="9391879" y="4801342"/>
            <a:ext cx="3816752" cy="5896732"/>
            <a:chOff x="0" y="0"/>
            <a:chExt cx="778572" cy="1202863"/>
          </a:xfrm>
        </p:grpSpPr>
        <p:sp>
          <p:nvSpPr>
            <p:cNvPr id="6" name="Freeform 6"/>
            <p:cNvSpPr/>
            <p:nvPr/>
          </p:nvSpPr>
          <p:spPr>
            <a:xfrm>
              <a:off x="0" y="0"/>
              <a:ext cx="778572" cy="1202863"/>
            </a:xfrm>
            <a:custGeom>
              <a:avLst/>
              <a:gdLst/>
              <a:ahLst/>
              <a:cxnLst/>
              <a:rect l="l" t="t" r="r" b="b"/>
              <a:pathLst>
                <a:path w="778572" h="1202863">
                  <a:moveTo>
                    <a:pt x="0" y="0"/>
                  </a:moveTo>
                  <a:lnTo>
                    <a:pt x="778572" y="0"/>
                  </a:lnTo>
                  <a:lnTo>
                    <a:pt x="778572" y="1202863"/>
                  </a:lnTo>
                  <a:lnTo>
                    <a:pt x="0" y="1202863"/>
                  </a:lnTo>
                  <a:close/>
                </a:path>
              </a:pathLst>
            </a:custGeom>
            <a:blipFill>
              <a:blip r:embed="rId4">
                <a:alphaModFix amt="86000"/>
              </a:blip>
              <a:stretch>
                <a:fillRect l="-10285" r="-10285"/>
              </a:stretch>
            </a:blipFill>
          </p:spPr>
        </p:sp>
      </p:grpSp>
      <p:grpSp>
        <p:nvGrpSpPr>
          <p:cNvPr id="7" name="Group 7"/>
          <p:cNvGrpSpPr/>
          <p:nvPr/>
        </p:nvGrpSpPr>
        <p:grpSpPr>
          <a:xfrm>
            <a:off x="756033" y="3044543"/>
            <a:ext cx="8387967" cy="6778273"/>
            <a:chOff x="0" y="0"/>
            <a:chExt cx="2155548" cy="1741887"/>
          </a:xfrm>
        </p:grpSpPr>
        <p:sp>
          <p:nvSpPr>
            <p:cNvPr id="8" name="Freeform 8"/>
            <p:cNvSpPr/>
            <p:nvPr/>
          </p:nvSpPr>
          <p:spPr>
            <a:xfrm>
              <a:off x="0" y="0"/>
              <a:ext cx="2155548" cy="1741887"/>
            </a:xfrm>
            <a:custGeom>
              <a:avLst/>
              <a:gdLst/>
              <a:ahLst/>
              <a:cxnLst/>
              <a:rect l="l" t="t" r="r" b="b"/>
              <a:pathLst>
                <a:path w="2155548" h="1741887">
                  <a:moveTo>
                    <a:pt x="15691" y="0"/>
                  </a:moveTo>
                  <a:lnTo>
                    <a:pt x="2139857" y="0"/>
                  </a:lnTo>
                  <a:cubicBezTo>
                    <a:pt x="2144019" y="0"/>
                    <a:pt x="2148010" y="1653"/>
                    <a:pt x="2150952" y="4596"/>
                  </a:cubicBezTo>
                  <a:cubicBezTo>
                    <a:pt x="2153895" y="7538"/>
                    <a:pt x="2155548" y="11529"/>
                    <a:pt x="2155548" y="15691"/>
                  </a:cubicBezTo>
                  <a:lnTo>
                    <a:pt x="2155548" y="1726197"/>
                  </a:lnTo>
                  <a:cubicBezTo>
                    <a:pt x="2155548" y="1734862"/>
                    <a:pt x="2148523" y="1741887"/>
                    <a:pt x="2139857" y="1741887"/>
                  </a:cubicBezTo>
                  <a:lnTo>
                    <a:pt x="15691" y="1741887"/>
                  </a:lnTo>
                  <a:cubicBezTo>
                    <a:pt x="11529" y="1741887"/>
                    <a:pt x="7538" y="1740234"/>
                    <a:pt x="4596" y="1737292"/>
                  </a:cubicBezTo>
                  <a:cubicBezTo>
                    <a:pt x="1653" y="1734349"/>
                    <a:pt x="0" y="1730358"/>
                    <a:pt x="0" y="1726197"/>
                  </a:cubicBezTo>
                  <a:lnTo>
                    <a:pt x="0" y="15691"/>
                  </a:lnTo>
                  <a:cubicBezTo>
                    <a:pt x="0" y="11529"/>
                    <a:pt x="1653" y="7538"/>
                    <a:pt x="4596" y="4596"/>
                  </a:cubicBezTo>
                  <a:cubicBezTo>
                    <a:pt x="7538" y="1653"/>
                    <a:pt x="11529" y="0"/>
                    <a:pt x="15691" y="0"/>
                  </a:cubicBezTo>
                  <a:close/>
                </a:path>
              </a:pathLst>
            </a:custGeom>
            <a:solidFill>
              <a:srgbClr val="022F76">
                <a:alpha val="50980"/>
              </a:srgbClr>
            </a:solidFill>
          </p:spPr>
        </p:sp>
        <p:sp>
          <p:nvSpPr>
            <p:cNvPr id="9" name="TextBox 9"/>
            <p:cNvSpPr txBox="1"/>
            <p:nvPr/>
          </p:nvSpPr>
          <p:spPr>
            <a:xfrm>
              <a:off x="0" y="-28575"/>
              <a:ext cx="2155548" cy="1770462"/>
            </a:xfrm>
            <a:prstGeom prst="rect">
              <a:avLst/>
            </a:prstGeom>
          </p:spPr>
          <p:txBody>
            <a:bodyPr lIns="50800" tIns="50800" rIns="50800" bIns="50800" rtlCol="0" anchor="ctr"/>
            <a:lstStyle/>
            <a:p>
              <a:pPr marL="0" lvl="0" indent="0" algn="ctr">
                <a:lnSpc>
                  <a:spcPts val="2377"/>
                </a:lnSpc>
              </a:pPr>
              <a:endParaRPr/>
            </a:p>
          </p:txBody>
        </p:sp>
      </p:grpSp>
      <p:sp>
        <p:nvSpPr>
          <p:cNvPr id="10" name="TextBox 10"/>
          <p:cNvSpPr txBox="1"/>
          <p:nvPr/>
        </p:nvSpPr>
        <p:spPr>
          <a:xfrm>
            <a:off x="1101104" y="1028214"/>
            <a:ext cx="10724139" cy="933224"/>
          </a:xfrm>
          <a:prstGeom prst="rect">
            <a:avLst/>
          </a:prstGeom>
        </p:spPr>
        <p:txBody>
          <a:bodyPr lIns="0" tIns="0" rIns="0" bIns="0" rtlCol="0" anchor="t">
            <a:spAutoFit/>
          </a:bodyPr>
          <a:lstStyle/>
          <a:p>
            <a:pPr marL="0" lvl="0" indent="0" algn="l">
              <a:lnSpc>
                <a:spcPts val="7235"/>
              </a:lnSpc>
            </a:pPr>
            <a:r>
              <a:rPr lang="en-US" sz="6403" b="1">
                <a:solidFill>
                  <a:srgbClr val="FFFFFF"/>
                </a:solidFill>
                <a:latin typeface="Garet Bold"/>
                <a:ea typeface="Garet Bold"/>
                <a:cs typeface="Garet Bold"/>
                <a:sym typeface="Garet Bold"/>
              </a:rPr>
              <a:t>Proje Yapısı</a:t>
            </a:r>
          </a:p>
        </p:txBody>
      </p:sp>
      <p:sp>
        <p:nvSpPr>
          <p:cNvPr id="11" name="TextBox 11"/>
          <p:cNvSpPr txBox="1"/>
          <p:nvPr/>
        </p:nvSpPr>
        <p:spPr>
          <a:xfrm>
            <a:off x="1101104" y="3439033"/>
            <a:ext cx="7285270" cy="1578651"/>
          </a:xfrm>
          <a:prstGeom prst="rect">
            <a:avLst/>
          </a:prstGeom>
        </p:spPr>
        <p:txBody>
          <a:bodyPr lIns="0" tIns="0" rIns="0" bIns="0" rtlCol="0" anchor="t">
            <a:spAutoFit/>
          </a:bodyPr>
          <a:lstStyle/>
          <a:p>
            <a:pPr algn="just">
              <a:lnSpc>
                <a:spcPts val="2156"/>
              </a:lnSpc>
            </a:pPr>
            <a:r>
              <a:rPr lang="en-US" sz="1172" spc="15">
                <a:solidFill>
                  <a:srgbClr val="FFFFFF"/>
                </a:solidFill>
                <a:latin typeface="Montserrat Light"/>
                <a:ea typeface="Montserrat Light"/>
                <a:cs typeface="Montserrat Light"/>
                <a:sym typeface="Montserrat Light"/>
              </a:rPr>
              <a:t>Dosya Organizasyonu</a:t>
            </a:r>
          </a:p>
          <a:p>
            <a:pPr marL="253087" lvl="1" indent="-126543" algn="just">
              <a:lnSpc>
                <a:spcPts val="2156"/>
              </a:lnSpc>
              <a:buFont typeface="Arial"/>
              <a:buChar char="•"/>
            </a:pPr>
            <a:r>
              <a:rPr lang="en-US" sz="1172" spc="15">
                <a:solidFill>
                  <a:srgbClr val="FFFFFF"/>
                </a:solidFill>
                <a:latin typeface="Montserrat Light"/>
                <a:ea typeface="Montserrat Light"/>
                <a:cs typeface="Montserrat Light"/>
                <a:sym typeface="Montserrat Light"/>
              </a:rPr>
              <a:t>Proje tek dosya (labirent.py) üzerinden çalışır</a:t>
            </a:r>
          </a:p>
          <a:p>
            <a:pPr marL="253087" lvl="1" indent="-126543" algn="just">
              <a:lnSpc>
                <a:spcPts val="2156"/>
              </a:lnSpc>
              <a:buFont typeface="Arial"/>
              <a:buChar char="•"/>
            </a:pPr>
            <a:r>
              <a:rPr lang="en-US" sz="1172" spc="15">
                <a:solidFill>
                  <a:srgbClr val="FFFFFF"/>
                </a:solidFill>
                <a:latin typeface="Montserrat Light"/>
                <a:ea typeface="Montserrat Light"/>
                <a:cs typeface="Montserrat Light"/>
                <a:sym typeface="Montserrat Light"/>
              </a:rPr>
              <a:t>Skorlar skorlar.json dosyasında saklanır</a:t>
            </a:r>
          </a:p>
          <a:p>
            <a:pPr marL="253087" lvl="1" indent="-126543" algn="just">
              <a:lnSpc>
                <a:spcPts val="2156"/>
              </a:lnSpc>
              <a:buFont typeface="Arial"/>
              <a:buChar char="•"/>
            </a:pPr>
            <a:r>
              <a:rPr lang="en-US" sz="1172" spc="15">
                <a:solidFill>
                  <a:srgbClr val="FFFFFF"/>
                </a:solidFill>
                <a:latin typeface="Montserrat Light"/>
                <a:ea typeface="Montserrat Light"/>
                <a:cs typeface="Montserrat Light"/>
                <a:sym typeface="Montserrat Light"/>
              </a:rPr>
              <a:t>Tüm yapı MatematikLabirentPro sınıfı içinde toplanmıştır</a:t>
            </a:r>
          </a:p>
          <a:p>
            <a:pPr marL="253087" lvl="1" indent="-126543" algn="just">
              <a:lnSpc>
                <a:spcPts val="2156"/>
              </a:lnSpc>
              <a:buFont typeface="Arial"/>
              <a:buChar char="•"/>
            </a:pPr>
            <a:r>
              <a:rPr lang="en-US" sz="1172" spc="15">
                <a:solidFill>
                  <a:srgbClr val="FFFFFF"/>
                </a:solidFill>
                <a:latin typeface="Montserrat Light"/>
                <a:ea typeface="Montserrat Light"/>
                <a:cs typeface="Montserrat Light"/>
                <a:sym typeface="Montserrat Light"/>
              </a:rPr>
              <a:t>Renk, tema ve ayarlar kodun başında tanımlıdır</a:t>
            </a:r>
          </a:p>
          <a:p>
            <a:pPr marL="0" lvl="0" indent="0" algn="just">
              <a:lnSpc>
                <a:spcPts val="2156"/>
              </a:lnSpc>
            </a:pPr>
            <a:endParaRPr lang="en-US" sz="1172" spc="15">
              <a:solidFill>
                <a:srgbClr val="FFFFFF"/>
              </a:solidFill>
              <a:latin typeface="Montserrat Light"/>
              <a:ea typeface="Montserrat Light"/>
              <a:cs typeface="Montserrat Light"/>
              <a:sym typeface="Montserrat Light"/>
            </a:endParaRPr>
          </a:p>
        </p:txBody>
      </p:sp>
      <p:sp>
        <p:nvSpPr>
          <p:cNvPr id="12" name="TextBox 12"/>
          <p:cNvSpPr txBox="1"/>
          <p:nvPr/>
        </p:nvSpPr>
        <p:spPr>
          <a:xfrm>
            <a:off x="1101104" y="5067300"/>
            <a:ext cx="7557121" cy="2187165"/>
          </a:xfrm>
          <a:prstGeom prst="rect">
            <a:avLst/>
          </a:prstGeom>
        </p:spPr>
        <p:txBody>
          <a:bodyPr lIns="0" tIns="0" rIns="0" bIns="0" rtlCol="0" anchor="t">
            <a:spAutoFit/>
          </a:bodyPr>
          <a:lstStyle/>
          <a:p>
            <a:pPr marL="262531" lvl="1" indent="-131265" algn="l">
              <a:lnSpc>
                <a:spcPts val="2237"/>
              </a:lnSpc>
              <a:buFont typeface="Arial"/>
              <a:buChar char="•"/>
            </a:pPr>
            <a:r>
              <a:rPr lang="en-US" sz="1215" spc="15">
                <a:solidFill>
                  <a:srgbClr val="FFFFFF"/>
                </a:solidFill>
                <a:latin typeface="Montserrat Light"/>
                <a:ea typeface="Montserrat Light"/>
                <a:cs typeface="Montserrat Light"/>
                <a:sym typeface="Montserrat Light"/>
              </a:rPr>
              <a:t>Kod Akışı</a:t>
            </a:r>
          </a:p>
          <a:p>
            <a:pPr marL="262531" lvl="1" indent="-131265" algn="l">
              <a:lnSpc>
                <a:spcPts val="2237"/>
              </a:lnSpc>
              <a:buFont typeface="Arial"/>
              <a:buChar char="•"/>
            </a:pPr>
            <a:r>
              <a:rPr lang="en-US" sz="1215" spc="15">
                <a:solidFill>
                  <a:srgbClr val="FFFFFF"/>
                </a:solidFill>
                <a:latin typeface="Montserrat Light"/>
                <a:ea typeface="Montserrat Light"/>
                <a:cs typeface="Montserrat Light"/>
                <a:sym typeface="Montserrat Light"/>
              </a:rPr>
              <a:t>Oyun menü ile başlar</a:t>
            </a:r>
          </a:p>
          <a:p>
            <a:pPr marL="262531" lvl="1" indent="-131265" algn="l">
              <a:lnSpc>
                <a:spcPts val="2237"/>
              </a:lnSpc>
              <a:buFont typeface="Arial"/>
              <a:buChar char="•"/>
            </a:pPr>
            <a:r>
              <a:rPr lang="en-US" sz="1215" spc="15">
                <a:solidFill>
                  <a:srgbClr val="FFFFFF"/>
                </a:solidFill>
                <a:latin typeface="Montserrat Light"/>
                <a:ea typeface="Montserrat Light"/>
                <a:cs typeface="Montserrat Light"/>
                <a:sym typeface="Montserrat Light"/>
              </a:rPr>
              <a:t>Kullanıcı zorluk ve tema seçer</a:t>
            </a:r>
          </a:p>
          <a:p>
            <a:pPr marL="262531" lvl="1" indent="-131265" algn="l">
              <a:lnSpc>
                <a:spcPts val="2237"/>
              </a:lnSpc>
              <a:buFont typeface="Arial"/>
              <a:buChar char="•"/>
            </a:pPr>
            <a:r>
              <a:rPr lang="en-US" sz="1215" spc="15">
                <a:solidFill>
                  <a:srgbClr val="FFFFFF"/>
                </a:solidFill>
                <a:latin typeface="Montserrat Light"/>
                <a:ea typeface="Montserrat Light"/>
                <a:cs typeface="Montserrat Light"/>
                <a:sym typeface="Montserrat Light"/>
              </a:rPr>
              <a:t>Labirent oluşturulur ve oyun başlar</a:t>
            </a:r>
          </a:p>
          <a:p>
            <a:pPr marL="262531" lvl="1" indent="-131265" algn="l">
              <a:lnSpc>
                <a:spcPts val="2237"/>
              </a:lnSpc>
              <a:buFont typeface="Arial"/>
              <a:buChar char="•"/>
            </a:pPr>
            <a:r>
              <a:rPr lang="en-US" sz="1215" spc="15">
                <a:solidFill>
                  <a:srgbClr val="FFFFFF"/>
                </a:solidFill>
                <a:latin typeface="Montserrat Light"/>
                <a:ea typeface="Montserrat Light"/>
                <a:cs typeface="Montserrat Light"/>
                <a:sym typeface="Montserrat Light"/>
              </a:rPr>
              <a:t>Döngü içinde hareket, çizim ve kontroller yapılır</a:t>
            </a:r>
          </a:p>
          <a:p>
            <a:pPr marL="262531" lvl="1" indent="-131265" algn="l">
              <a:lnSpc>
                <a:spcPts val="2237"/>
              </a:lnSpc>
              <a:buFont typeface="Arial"/>
              <a:buChar char="•"/>
            </a:pPr>
            <a:r>
              <a:rPr lang="en-US" sz="1215" spc="15">
                <a:solidFill>
                  <a:srgbClr val="FFFFFF"/>
                </a:solidFill>
                <a:latin typeface="Montserrat Light"/>
                <a:ea typeface="Montserrat Light"/>
                <a:cs typeface="Montserrat Light"/>
                <a:sym typeface="Montserrat Light"/>
              </a:rPr>
              <a:t>Soru kutularında matematik soruları sorulur</a:t>
            </a:r>
          </a:p>
          <a:p>
            <a:pPr marL="262531" lvl="1" indent="-131265" algn="l">
              <a:lnSpc>
                <a:spcPts val="2237"/>
              </a:lnSpc>
              <a:buFont typeface="Arial"/>
              <a:buChar char="•"/>
            </a:pPr>
            <a:r>
              <a:rPr lang="en-US" sz="1215" spc="15">
                <a:solidFill>
                  <a:srgbClr val="FFFFFF"/>
                </a:solidFill>
                <a:latin typeface="Montserrat Light"/>
                <a:ea typeface="Montserrat Light"/>
                <a:cs typeface="Montserrat Light"/>
                <a:sym typeface="Montserrat Light"/>
              </a:rPr>
              <a:t>Süre bitince veya hedefe ulaşınca oyun sona erer</a:t>
            </a:r>
          </a:p>
          <a:p>
            <a:pPr marL="262531" lvl="1" indent="-131265" algn="l">
              <a:lnSpc>
                <a:spcPts val="2237"/>
              </a:lnSpc>
              <a:buFont typeface="Arial"/>
              <a:buChar char="•"/>
            </a:pPr>
            <a:endParaRPr lang="en-US" sz="1215" spc="15">
              <a:solidFill>
                <a:srgbClr val="FFFFFF"/>
              </a:solidFill>
              <a:latin typeface="Montserrat Light"/>
              <a:ea typeface="Montserrat Light"/>
              <a:cs typeface="Montserrat Light"/>
              <a:sym typeface="Montserrat Light"/>
            </a:endParaRPr>
          </a:p>
        </p:txBody>
      </p:sp>
      <p:sp>
        <p:nvSpPr>
          <p:cNvPr id="13" name="TextBox 13"/>
          <p:cNvSpPr txBox="1"/>
          <p:nvPr/>
        </p:nvSpPr>
        <p:spPr>
          <a:xfrm>
            <a:off x="1101104" y="7347360"/>
            <a:ext cx="7557121" cy="1910940"/>
          </a:xfrm>
          <a:prstGeom prst="rect">
            <a:avLst/>
          </a:prstGeom>
        </p:spPr>
        <p:txBody>
          <a:bodyPr lIns="0" tIns="0" rIns="0" bIns="0" rtlCol="0" anchor="t">
            <a:spAutoFit/>
          </a:bodyPr>
          <a:lstStyle/>
          <a:p>
            <a:pPr marL="0" lvl="0" indent="0" algn="just">
              <a:lnSpc>
                <a:spcPts val="2237"/>
              </a:lnSpc>
            </a:pPr>
            <a:r>
              <a:rPr lang="en-US" sz="1215" spc="15">
                <a:solidFill>
                  <a:srgbClr val="FFFFFF"/>
                </a:solidFill>
                <a:latin typeface="Montserrat Light"/>
                <a:ea typeface="Montserrat Light"/>
                <a:cs typeface="Montserrat Light"/>
                <a:sym typeface="Montserrat Light"/>
              </a:rPr>
              <a:t>Kod Metrikleri</a:t>
            </a:r>
          </a:p>
          <a:p>
            <a:pPr marL="262531" lvl="1" indent="-131265" algn="just">
              <a:lnSpc>
                <a:spcPts val="2237"/>
              </a:lnSpc>
              <a:buFont typeface="Arial"/>
              <a:buChar char="•"/>
            </a:pPr>
            <a:r>
              <a:rPr lang="en-US" sz="1215" spc="15">
                <a:solidFill>
                  <a:srgbClr val="FFFFFF"/>
                </a:solidFill>
                <a:latin typeface="Montserrat Light"/>
                <a:ea typeface="Montserrat Light"/>
                <a:cs typeface="Montserrat Light"/>
                <a:sym typeface="Montserrat Light"/>
              </a:rPr>
              <a:t>Yaklaşık 700+ satır kod</a:t>
            </a:r>
          </a:p>
          <a:p>
            <a:pPr marL="262531" lvl="1" indent="-131265" algn="just">
              <a:lnSpc>
                <a:spcPts val="2237"/>
              </a:lnSpc>
              <a:buFont typeface="Arial"/>
              <a:buChar char="•"/>
            </a:pPr>
            <a:r>
              <a:rPr lang="en-US" sz="1215" spc="15">
                <a:solidFill>
                  <a:srgbClr val="FFFFFF"/>
                </a:solidFill>
                <a:latin typeface="Montserrat Light"/>
                <a:ea typeface="Montserrat Light"/>
                <a:cs typeface="Montserrat Light"/>
                <a:sym typeface="Montserrat Light"/>
              </a:rPr>
              <a:t>Nesne yönelimli yapı (OOP) kullanılmıştır</a:t>
            </a:r>
          </a:p>
          <a:p>
            <a:pPr marL="262531" lvl="1" indent="-131265" algn="just">
              <a:lnSpc>
                <a:spcPts val="2237"/>
              </a:lnSpc>
              <a:buFont typeface="Arial"/>
              <a:buChar char="•"/>
            </a:pPr>
            <a:r>
              <a:rPr lang="en-US" sz="1215" spc="15">
                <a:solidFill>
                  <a:srgbClr val="FFFFFF"/>
                </a:solidFill>
                <a:latin typeface="Montserrat Light"/>
                <a:ea typeface="Montserrat Light"/>
                <a:cs typeface="Montserrat Light"/>
                <a:sym typeface="Montserrat Light"/>
              </a:rPr>
              <a:t>1 ana sınıf ve birçok fonksiyon bulunur</a:t>
            </a:r>
          </a:p>
          <a:p>
            <a:pPr marL="262531" lvl="1" indent="-131265" algn="just">
              <a:lnSpc>
                <a:spcPts val="2237"/>
              </a:lnSpc>
              <a:buFont typeface="Arial"/>
              <a:buChar char="•"/>
            </a:pPr>
            <a:r>
              <a:rPr lang="en-US" sz="1215" spc="15">
                <a:solidFill>
                  <a:srgbClr val="FFFFFF"/>
                </a:solidFill>
                <a:latin typeface="Montserrat Light"/>
                <a:ea typeface="Montserrat Light"/>
                <a:cs typeface="Montserrat Light"/>
                <a:sym typeface="Montserrat Light"/>
              </a:rPr>
              <a:t>Koşullar ve döngüler aktif olarak kullanılmıştır</a:t>
            </a:r>
          </a:p>
          <a:p>
            <a:pPr marL="262531" lvl="1" indent="-131265" algn="just">
              <a:lnSpc>
                <a:spcPts val="2237"/>
              </a:lnSpc>
              <a:buFont typeface="Arial"/>
              <a:buChar char="•"/>
            </a:pPr>
            <a:r>
              <a:rPr lang="en-US" sz="1215" spc="15">
                <a:solidFill>
                  <a:srgbClr val="FFFFFF"/>
                </a:solidFill>
                <a:latin typeface="Montserrat Light"/>
                <a:ea typeface="Montserrat Light"/>
                <a:cs typeface="Montserrat Light"/>
                <a:sym typeface="Montserrat Light"/>
              </a:rPr>
              <a:t>JSON ile veri kaydı yapılmaktadır</a:t>
            </a:r>
          </a:p>
          <a:p>
            <a:pPr marL="0" lvl="0" indent="0" algn="just">
              <a:lnSpc>
                <a:spcPts val="2237"/>
              </a:lnSpc>
            </a:pPr>
            <a:endParaRPr lang="en-US" sz="1215" spc="15">
              <a:solidFill>
                <a:srgbClr val="FFFFFF"/>
              </a:solidFill>
              <a:latin typeface="Montserrat Light"/>
              <a:ea typeface="Montserrat Light"/>
              <a:cs typeface="Montserrat Light"/>
              <a:sym typeface="Montserrat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33" b="-3333"/>
            </a:stretch>
          </a:blipFill>
        </p:spPr>
      </p:sp>
      <p:grpSp>
        <p:nvGrpSpPr>
          <p:cNvPr id="3" name="Group 3"/>
          <p:cNvGrpSpPr/>
          <p:nvPr/>
        </p:nvGrpSpPr>
        <p:grpSpPr>
          <a:xfrm>
            <a:off x="1603643" y="3189398"/>
            <a:ext cx="15080714" cy="5285345"/>
            <a:chOff x="0" y="0"/>
            <a:chExt cx="3875457" cy="1358233"/>
          </a:xfrm>
        </p:grpSpPr>
        <p:sp>
          <p:nvSpPr>
            <p:cNvPr id="4" name="Freeform 4"/>
            <p:cNvSpPr/>
            <p:nvPr/>
          </p:nvSpPr>
          <p:spPr>
            <a:xfrm>
              <a:off x="0" y="0"/>
              <a:ext cx="3875457" cy="1358233"/>
            </a:xfrm>
            <a:custGeom>
              <a:avLst/>
              <a:gdLst/>
              <a:ahLst/>
              <a:cxnLst/>
              <a:rect l="l" t="t" r="r" b="b"/>
              <a:pathLst>
                <a:path w="3875457" h="1358233">
                  <a:moveTo>
                    <a:pt x="8727" y="0"/>
                  </a:moveTo>
                  <a:lnTo>
                    <a:pt x="3866729" y="0"/>
                  </a:lnTo>
                  <a:cubicBezTo>
                    <a:pt x="3871550" y="0"/>
                    <a:pt x="3875457" y="3907"/>
                    <a:pt x="3875457" y="8727"/>
                  </a:cubicBezTo>
                  <a:lnTo>
                    <a:pt x="3875457" y="1349506"/>
                  </a:lnTo>
                  <a:cubicBezTo>
                    <a:pt x="3875457" y="1351821"/>
                    <a:pt x="3874538" y="1354040"/>
                    <a:pt x="3872901" y="1355677"/>
                  </a:cubicBezTo>
                  <a:cubicBezTo>
                    <a:pt x="3871264" y="1357314"/>
                    <a:pt x="3869044" y="1358233"/>
                    <a:pt x="3866729" y="1358233"/>
                  </a:cubicBezTo>
                  <a:lnTo>
                    <a:pt x="8727" y="1358233"/>
                  </a:lnTo>
                  <a:cubicBezTo>
                    <a:pt x="3907" y="1358233"/>
                    <a:pt x="0" y="1354326"/>
                    <a:pt x="0" y="1349506"/>
                  </a:cubicBezTo>
                  <a:lnTo>
                    <a:pt x="0" y="8727"/>
                  </a:lnTo>
                  <a:cubicBezTo>
                    <a:pt x="0" y="6413"/>
                    <a:pt x="919" y="4193"/>
                    <a:pt x="2556" y="2556"/>
                  </a:cubicBezTo>
                  <a:cubicBezTo>
                    <a:pt x="4193" y="919"/>
                    <a:pt x="6413" y="0"/>
                    <a:pt x="8727" y="0"/>
                  </a:cubicBezTo>
                  <a:close/>
                </a:path>
              </a:pathLst>
            </a:custGeom>
            <a:solidFill>
              <a:srgbClr val="022F76">
                <a:alpha val="50980"/>
              </a:srgbClr>
            </a:solidFill>
          </p:spPr>
        </p:sp>
        <p:sp>
          <p:nvSpPr>
            <p:cNvPr id="5" name="TextBox 5"/>
            <p:cNvSpPr txBox="1"/>
            <p:nvPr/>
          </p:nvSpPr>
          <p:spPr>
            <a:xfrm>
              <a:off x="0" y="-28575"/>
              <a:ext cx="3875457" cy="1386808"/>
            </a:xfrm>
            <a:prstGeom prst="rect">
              <a:avLst/>
            </a:prstGeom>
          </p:spPr>
          <p:txBody>
            <a:bodyPr lIns="50800" tIns="50800" rIns="50800" bIns="50800" rtlCol="0" anchor="ctr"/>
            <a:lstStyle/>
            <a:p>
              <a:pPr marL="0" lvl="0" indent="0" algn="ctr">
                <a:lnSpc>
                  <a:spcPts val="2377"/>
                </a:lnSpc>
              </a:pPr>
              <a:endParaRPr/>
            </a:p>
          </p:txBody>
        </p:sp>
      </p:grpSp>
      <p:sp>
        <p:nvSpPr>
          <p:cNvPr id="6" name="TextBox 6"/>
          <p:cNvSpPr txBox="1"/>
          <p:nvPr/>
        </p:nvSpPr>
        <p:spPr>
          <a:xfrm>
            <a:off x="4695521" y="952500"/>
            <a:ext cx="8896957" cy="1054012"/>
          </a:xfrm>
          <a:prstGeom prst="rect">
            <a:avLst/>
          </a:prstGeom>
        </p:spPr>
        <p:txBody>
          <a:bodyPr lIns="0" tIns="0" rIns="0" bIns="0" rtlCol="0" anchor="t">
            <a:spAutoFit/>
          </a:bodyPr>
          <a:lstStyle/>
          <a:p>
            <a:pPr marL="0" lvl="0" indent="0" algn="ctr">
              <a:lnSpc>
                <a:spcPts val="8680"/>
              </a:lnSpc>
            </a:pPr>
            <a:r>
              <a:rPr lang="en-US" sz="6200" b="1" spc="49">
                <a:solidFill>
                  <a:srgbClr val="FFFFFF"/>
                </a:solidFill>
                <a:latin typeface="Garet Ultra-Bold"/>
                <a:ea typeface="Garet Ultra-Bold"/>
                <a:cs typeface="Garet Ultra-Bold"/>
                <a:sym typeface="Garet Ultra-Bold"/>
              </a:rPr>
              <a:t>Sonuç ve Öğrenimler</a:t>
            </a:r>
          </a:p>
        </p:txBody>
      </p:sp>
      <p:sp>
        <p:nvSpPr>
          <p:cNvPr id="7" name="TextBox 7"/>
          <p:cNvSpPr txBox="1"/>
          <p:nvPr/>
        </p:nvSpPr>
        <p:spPr>
          <a:xfrm>
            <a:off x="3134297" y="4582377"/>
            <a:ext cx="12019406" cy="3450199"/>
          </a:xfrm>
          <a:prstGeom prst="rect">
            <a:avLst/>
          </a:prstGeom>
        </p:spPr>
        <p:txBody>
          <a:bodyPr lIns="0" tIns="0" rIns="0" bIns="0" rtlCol="0" anchor="t">
            <a:spAutoFit/>
          </a:bodyPr>
          <a:lstStyle/>
          <a:p>
            <a:pPr marL="0" lvl="0" indent="0" algn="ctr">
              <a:lnSpc>
                <a:spcPts val="2506"/>
              </a:lnSpc>
            </a:pPr>
            <a:r>
              <a:rPr lang="en-US" sz="1790">
                <a:solidFill>
                  <a:srgbClr val="FFFFFF"/>
                </a:solidFill>
                <a:latin typeface="Montserrat"/>
                <a:ea typeface="Montserrat"/>
                <a:cs typeface="Montserrat"/>
                <a:sym typeface="Montserrat"/>
              </a:rPr>
              <a:t>Bu proje kapsamında Python kullanılarak eğitsel bir labirent oyunu geliştirilmiştir. Oyun, kullanıcıya hem eğlenceli bir deneyim sunarken hem de matematik soruları ile öğrenmeyi desteklemektedir. Labirent yapısı ve soru sistemi birleştirilerek interaktif bir yapı oluşturulmuştur.</a:t>
            </a:r>
          </a:p>
          <a:p>
            <a:pPr marL="0" lvl="0" indent="0" algn="ctr">
              <a:lnSpc>
                <a:spcPts val="2506"/>
              </a:lnSpc>
            </a:pPr>
            <a:r>
              <a:rPr lang="en-US" sz="1790">
                <a:solidFill>
                  <a:srgbClr val="FFFFFF"/>
                </a:solidFill>
                <a:latin typeface="Montserrat"/>
                <a:ea typeface="Montserrat"/>
                <a:cs typeface="Montserrat"/>
                <a:sym typeface="Montserrat"/>
              </a:rPr>
              <a:t>Proje sürecinde değişkenler, döngüler, koşullar ve fonksiyonlar aktif olarak kullanılmış, ayrıca nesne yönelimli programlama (OOP) mantığı ile daha düzenli bir kod yapısı oluşturulmuştur. Bunun yanında Pygame kütüphanesi ile grafiksel arayüz geliştirme konusunda önemli deneyim kazanılmıştır.</a:t>
            </a:r>
          </a:p>
          <a:p>
            <a:pPr marL="0" lvl="0" indent="0" algn="ctr">
              <a:lnSpc>
                <a:spcPts val="2506"/>
              </a:lnSpc>
            </a:pPr>
            <a:r>
              <a:rPr lang="en-US" sz="1790">
                <a:solidFill>
                  <a:srgbClr val="FFFFFF"/>
                </a:solidFill>
                <a:latin typeface="Montserrat"/>
                <a:ea typeface="Montserrat"/>
                <a:cs typeface="Montserrat"/>
                <a:sym typeface="Montserrat"/>
              </a:rPr>
              <a:t>Ayrıca JSON kullanılarak veri kaydı yapılması, projeye gerçek bir uygulama özelliği kazandırmıştır. Süreç boyunca karşılaşılan hataların çözülmesi, problem çözme becerisini geliştirmiştir.</a:t>
            </a:r>
          </a:p>
          <a:p>
            <a:pPr marL="0" lvl="0" indent="0" algn="ctr">
              <a:lnSpc>
                <a:spcPts val="2506"/>
              </a:lnSpc>
            </a:pPr>
            <a:r>
              <a:rPr lang="en-US" sz="1790">
                <a:solidFill>
                  <a:srgbClr val="FFFFFF"/>
                </a:solidFill>
                <a:latin typeface="Montserrat"/>
                <a:ea typeface="Montserrat"/>
                <a:cs typeface="Montserrat"/>
                <a:sym typeface="Montserrat"/>
              </a:rPr>
              <a:t>Sonuç olarak bu proje, hem programlama bilgisini hem de uygulama geliştirme yeteneğini ileri seviyeye taşıyan faydalı bir çalışma olmuştur.</a:t>
            </a:r>
          </a:p>
          <a:p>
            <a:pPr marL="0" lvl="0" indent="0" algn="ctr">
              <a:lnSpc>
                <a:spcPts val="2506"/>
              </a:lnSpc>
            </a:pPr>
            <a:endParaRPr lang="en-US" sz="1790">
              <a:solidFill>
                <a:srgbClr val="FFFFFF"/>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805</Words>
  <Application>Microsoft Office PowerPoint</Application>
  <PresentationFormat>Özel</PresentationFormat>
  <Paragraphs>60</Paragraphs>
  <Slides>7</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7</vt:i4>
      </vt:variant>
    </vt:vector>
  </HeadingPairs>
  <TitlesOfParts>
    <vt:vector size="14" baseType="lpstr">
      <vt:lpstr>Garet Ultra-Bold</vt:lpstr>
      <vt:lpstr>Garet Bold</vt:lpstr>
      <vt:lpstr>Montserrat Light</vt:lpstr>
      <vt:lpstr>Montserrat</vt:lpstr>
      <vt:lpstr>Arial</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 proje, klasik labirent oyununu matematik soruları ile birleştirerek oyuncunun uzamsal düşünme, zaman yönetimi ve problem çözme yetilerini aynı anda geliştirmeyi amaçlayan bir eğitim oyunudur.</dc:title>
  <cp:lastModifiedBy>MUSTAFA YENER ŞAHİN</cp:lastModifiedBy>
  <cp:revision>2</cp:revision>
  <dcterms:created xsi:type="dcterms:W3CDTF">2006-08-16T00:00:00Z</dcterms:created>
  <dcterms:modified xsi:type="dcterms:W3CDTF">2026-05-04T11:01:43Z</dcterms:modified>
  <dc:identifier>DAHIsi07Poc</dc:identifier>
</cp:coreProperties>
</file>